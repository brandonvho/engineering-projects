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Canva Sans" panose="020B0604020202020204" charset="0"/>
      <p:regular r:id="rId10"/>
    </p:embeddedFont>
    <p:embeddedFont>
      <p:font typeface="Canva Sans Bold" panose="020B0604020202020204" charset="0"/>
      <p:regular r:id="rId11"/>
    </p:embeddedFont>
    <p:embeddedFont>
      <p:font typeface="Canva Sans Bold Italics" panose="020B0604020202020204" charset="0"/>
      <p:regular r:id="rId12"/>
    </p:embeddedFont>
    <p:embeddedFont>
      <p:font typeface="Canva Sans Italics" panose="020B0604020202020204" charset="0"/>
      <p:regular r:id="rId13"/>
    </p:embeddedFont>
    <p:embeddedFont>
      <p:font typeface="Perandory Condensed" panose="020B0604020202020204" charset="0"/>
      <p:regular r:id="rId14"/>
    </p:embeddedFont>
    <p:embeddedFont>
      <p:font typeface="Prompt" panose="00000500000000000000" pitchFamily="2" charset="-34"/>
      <p:regular r:id="rId15"/>
      <p:bold r:id="rId16"/>
      <p:italic r:id="rId17"/>
      <p:boldItalic r:id="rId18"/>
    </p:embeddedFont>
    <p:embeddedFont>
      <p:font typeface="Prompt Bold" panose="00000800000000000000" pitchFamily="2" charset="-34"/>
      <p:regular r:id="rId19"/>
      <p:bold r:id="rId20"/>
    </p:embeddedFont>
    <p:embeddedFont>
      <p:font typeface="Prompt Italics" panose="020B0604020202020204" charset="-34"/>
      <p:regular r:id="rId21"/>
    </p:embeddedFont>
    <p:embeddedFont>
      <p:font typeface="Prompt Light" panose="00000400000000000000" pitchFamily="2" charset="-34"/>
      <p:regular r:id="rId22"/>
      <p:italic r:id="rId23"/>
    </p:embeddedFont>
    <p:embeddedFont>
      <p:font typeface="Prompt Medium" panose="00000600000000000000" pitchFamily="2" charset="-34"/>
      <p:regular r:id="rId24"/>
      <p:italic r:id="rId25"/>
    </p:embeddedFont>
    <p:embeddedFont>
      <p:font typeface="TAN Nimbus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26C604-76C1-457B-AF48-CE6ED40F381C}" v="3" dt="2026-04-29T18:35:24.802"/>
    <p1510:client id="{35A2FE03-6BE8-2189-09C6-63E159C3F9C7}" v="2" dt="2026-04-29T18:25:38.730"/>
    <p1510:client id="{CB5507E1-8402-0D43-1536-C9CAEF19EDF2}" v="116" dt="2026-04-29T18:24:17.452"/>
    <p1510:client id="{FA48F957-A92C-1C22-10A4-B3E27D19559B}" v="9" dt="2026-04-29T18:34:33.0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font" Target="fonts/font17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33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-252087"/>
            <a:ext cx="18288000" cy="12070080"/>
          </a:xfrm>
          <a:custGeom>
            <a:avLst/>
            <a:gdLst/>
            <a:ahLst/>
            <a:cxnLst/>
            <a:rect l="l" t="t" r="r" b="b"/>
            <a:pathLst>
              <a:path w="18288000" h="12070080">
                <a:moveTo>
                  <a:pt x="0" y="0"/>
                </a:moveTo>
                <a:lnTo>
                  <a:pt x="18288000" y="0"/>
                </a:lnTo>
                <a:lnTo>
                  <a:pt x="18288000" y="12070080"/>
                </a:lnTo>
                <a:lnTo>
                  <a:pt x="0" y="1207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-250521"/>
            <a:ext cx="18288000" cy="12071959"/>
            <a:chOff x="0" y="0"/>
            <a:chExt cx="4816593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49804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6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919813" y="1378744"/>
            <a:ext cx="14182902" cy="2933862"/>
            <a:chOff x="0" y="466725"/>
            <a:chExt cx="18910536" cy="3911816"/>
          </a:xfrm>
        </p:grpSpPr>
        <p:sp>
          <p:nvSpPr>
            <p:cNvPr id="8" name="TextBox 8"/>
            <p:cNvSpPr txBox="1"/>
            <p:nvPr/>
          </p:nvSpPr>
          <p:spPr>
            <a:xfrm>
              <a:off x="0" y="466725"/>
              <a:ext cx="18910536" cy="19969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9748"/>
                </a:lnSpc>
              </a:pPr>
              <a:r>
                <a:rPr lang="en-US" sz="12185">
                  <a:solidFill>
                    <a:srgbClr val="00BF63"/>
                  </a:solidFill>
                  <a:latin typeface="TAN Nimbus"/>
                  <a:ea typeface="TAN Nimbus"/>
                  <a:cs typeface="TAN Nimbus"/>
                  <a:sym typeface="TAN Nimbus"/>
                </a:rPr>
                <a:t>Darkling Beetle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242829" y="2632633"/>
              <a:ext cx="13294463" cy="17459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282"/>
                </a:lnSpc>
              </a:pPr>
              <a:r>
                <a:rPr lang="en-US" sz="9744" spc="97">
                  <a:solidFill>
                    <a:srgbClr val="FFFFFF"/>
                  </a:solidFill>
                  <a:latin typeface="Perandory Condensed"/>
                  <a:ea typeface="Perandory Condensed"/>
                  <a:cs typeface="Perandory Condensed"/>
                  <a:sym typeface="Perandory Condensed"/>
                </a:rPr>
                <a:t>ENRICHMENT DESIGN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9210675"/>
            <a:ext cx="3582710" cy="40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Jadyn Goodson-Pelayo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36755" y="9210675"/>
            <a:ext cx="2177772" cy="40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Bryce Dodson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39872" y="9210675"/>
            <a:ext cx="1860590" cy="40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Brandon Ho</a:t>
            </a:r>
            <a:endParaRPr lang="en-US" sz="2000" b="1">
              <a:solidFill>
                <a:srgbClr val="FFFFFF"/>
              </a:solidFill>
              <a:latin typeface="Canva Sans Bold"/>
              <a:ea typeface="Canva Sans Bold"/>
              <a:cs typeface="Canva Sa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5025807" y="9210675"/>
            <a:ext cx="2233493" cy="40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Pablo Vasquez</a:t>
            </a:r>
            <a:endParaRPr lang="en-US" sz="2000" b="1">
              <a:solidFill>
                <a:srgbClr val="FFFFFF"/>
              </a:solidFill>
              <a:latin typeface="Canva Sans Bold"/>
              <a:ea typeface="Canva Sans Bold"/>
              <a:cs typeface="Canva Sans Bold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1028700" y="9645215"/>
            <a:ext cx="16230600" cy="19050"/>
          </a:xfrm>
          <a:prstGeom prst="line">
            <a:avLst/>
          </a:prstGeom>
          <a:ln w="38100" cap="flat">
            <a:solidFill>
              <a:srgbClr val="00BF63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-108730" y="9616640"/>
            <a:ext cx="9443818" cy="4028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000" b="1" i="1">
                <a:solidFill>
                  <a:srgbClr val="FFFFFF">
                    <a:alpha val="56862"/>
                  </a:srgbClr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Spring 2026 / Oklahoma City Zoo/ Engineering 1413</a:t>
            </a:r>
            <a:endParaRPr lang="en-US" sz="2000" b="1" i="1">
              <a:solidFill>
                <a:srgbClr val="FFFFFF">
                  <a:alpha val="56862"/>
                </a:srgbClr>
              </a:solidFill>
              <a:latin typeface="Canva Sans Bold Italics"/>
              <a:ea typeface="Canva Sans Bold Italics"/>
              <a:cs typeface="Canva Sans Bold Italic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93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6392538" cy="10263170"/>
            <a:chOff x="0" y="0"/>
            <a:chExt cx="990371" cy="15900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90371" cy="1590034"/>
            </a:xfrm>
            <a:custGeom>
              <a:avLst/>
              <a:gdLst/>
              <a:ahLst/>
              <a:cxnLst/>
              <a:rect l="l" t="t" r="r" b="b"/>
              <a:pathLst>
                <a:path w="990371" h="1590034">
                  <a:moveTo>
                    <a:pt x="0" y="0"/>
                  </a:moveTo>
                  <a:lnTo>
                    <a:pt x="990371" y="0"/>
                  </a:lnTo>
                  <a:lnTo>
                    <a:pt x="990371" y="1590034"/>
                  </a:lnTo>
                  <a:lnTo>
                    <a:pt x="0" y="1590034"/>
                  </a:lnTo>
                  <a:close/>
                </a:path>
              </a:pathLst>
            </a:custGeom>
            <a:blipFill>
              <a:blip r:embed="rId2"/>
              <a:stretch>
                <a:fillRect l="-9865" r="-9865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1153246" y="2910757"/>
            <a:ext cx="6106054" cy="2829702"/>
            <a:chOff x="0" y="0"/>
            <a:chExt cx="2117817" cy="98145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17817" cy="981451"/>
            </a:xfrm>
            <a:custGeom>
              <a:avLst/>
              <a:gdLst/>
              <a:ahLst/>
              <a:cxnLst/>
              <a:rect l="l" t="t" r="r" b="b"/>
              <a:pathLst>
                <a:path w="2117817" h="981451">
                  <a:moveTo>
                    <a:pt x="0" y="0"/>
                  </a:moveTo>
                  <a:lnTo>
                    <a:pt x="2117817" y="0"/>
                  </a:lnTo>
                  <a:lnTo>
                    <a:pt x="2117817" y="981451"/>
                  </a:lnTo>
                  <a:lnTo>
                    <a:pt x="0" y="981451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2117817" cy="1038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153246" y="6247160"/>
            <a:ext cx="6106054" cy="2829702"/>
            <a:chOff x="0" y="0"/>
            <a:chExt cx="2117817" cy="98145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17817" cy="981451"/>
            </a:xfrm>
            <a:custGeom>
              <a:avLst/>
              <a:gdLst/>
              <a:ahLst/>
              <a:cxnLst/>
              <a:rect l="l" t="t" r="r" b="b"/>
              <a:pathLst>
                <a:path w="2117817" h="981451">
                  <a:moveTo>
                    <a:pt x="0" y="0"/>
                  </a:moveTo>
                  <a:lnTo>
                    <a:pt x="2117817" y="0"/>
                  </a:lnTo>
                  <a:lnTo>
                    <a:pt x="2117817" y="981451"/>
                  </a:lnTo>
                  <a:lnTo>
                    <a:pt x="0" y="981451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2117817" cy="1038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425999" y="2910757"/>
            <a:ext cx="6106054" cy="2829702"/>
            <a:chOff x="0" y="0"/>
            <a:chExt cx="2117817" cy="9814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17817" cy="981451"/>
            </a:xfrm>
            <a:custGeom>
              <a:avLst/>
              <a:gdLst/>
              <a:ahLst/>
              <a:cxnLst/>
              <a:rect l="l" t="t" r="r" b="b"/>
              <a:pathLst>
                <a:path w="2117817" h="981451">
                  <a:moveTo>
                    <a:pt x="0" y="0"/>
                  </a:moveTo>
                  <a:lnTo>
                    <a:pt x="2117817" y="0"/>
                  </a:lnTo>
                  <a:lnTo>
                    <a:pt x="2117817" y="981451"/>
                  </a:lnTo>
                  <a:lnTo>
                    <a:pt x="0" y="981451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2117817" cy="1038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25999" y="6247160"/>
            <a:ext cx="6106054" cy="2829702"/>
            <a:chOff x="0" y="0"/>
            <a:chExt cx="2117817" cy="98145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117817" cy="981451"/>
            </a:xfrm>
            <a:custGeom>
              <a:avLst/>
              <a:gdLst/>
              <a:ahLst/>
              <a:cxnLst/>
              <a:rect l="l" t="t" r="r" b="b"/>
              <a:pathLst>
                <a:path w="2117817" h="981451">
                  <a:moveTo>
                    <a:pt x="0" y="0"/>
                  </a:moveTo>
                  <a:lnTo>
                    <a:pt x="2117817" y="0"/>
                  </a:lnTo>
                  <a:lnTo>
                    <a:pt x="2117817" y="981451"/>
                  </a:lnTo>
                  <a:lnTo>
                    <a:pt x="0" y="981451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117817" cy="10386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479026" y="1551041"/>
            <a:ext cx="9780274" cy="854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715"/>
              </a:lnSpc>
            </a:pPr>
            <a:r>
              <a:rPr lang="en-US" sz="5642" b="1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WHY THIS MATTERS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78057" y="3259612"/>
            <a:ext cx="4455963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 spc="5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Client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78057" y="6596015"/>
            <a:ext cx="4455963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 spc="5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Problem Statement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649429" y="3259612"/>
            <a:ext cx="508313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 spc="5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OKC Zoo Information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649429" y="6596015"/>
            <a:ext cx="5083138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 b="1" spc="5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Research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78057" y="3860755"/>
            <a:ext cx="5074053" cy="49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74"/>
              </a:lnSpc>
            </a:pPr>
            <a:r>
              <a:rPr lang="en-US" sz="245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Oklahoma City Zoo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978057" y="7197158"/>
            <a:ext cx="5074053" cy="1501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74"/>
              </a:lnSpc>
            </a:pPr>
            <a:r>
              <a:rPr lang="en-US" sz="24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The Oklahoma City Zoo needs enrichment structures for Darkling Beetles.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649429" y="3870280"/>
            <a:ext cx="4963063" cy="1815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l">
              <a:lnSpc>
                <a:spcPts val="3586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100 colonies - 57 mealworm bins</a:t>
            </a:r>
          </a:p>
          <a:p>
            <a:pPr marL="474981" lvl="1" indent="-237491" algn="l">
              <a:lnSpc>
                <a:spcPts val="3586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68-72 F - 50% humidity</a:t>
            </a:r>
          </a:p>
          <a:p>
            <a:pPr marL="474980" lvl="1" indent="-237490" algn="l">
              <a:lnSpc>
                <a:spcPts val="3586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Current hides: cardboard tubes and egg cartons</a:t>
            </a:r>
            <a:endParaRPr lang="en-US" sz="2200">
              <a:solidFill>
                <a:srgbClr val="FFFFFF"/>
              </a:solidFill>
              <a:latin typeface="Prompt Light"/>
              <a:ea typeface="Prompt Light"/>
              <a:cs typeface="Prompt Light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649429" y="7206683"/>
            <a:ext cx="4963063" cy="1756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81" lvl="1" indent="-237491" algn="l">
              <a:lnSpc>
                <a:spcPts val="3586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Habitats- under rocks, logs, in fungi, etc.</a:t>
            </a:r>
          </a:p>
          <a:p>
            <a:pPr marL="474981" lvl="1" indent="-237491" algn="l">
              <a:lnSpc>
                <a:spcPts val="3586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Nocturnal</a:t>
            </a:r>
          </a:p>
          <a:p>
            <a:pPr marL="474981" lvl="1" indent="-237491" algn="l">
              <a:lnSpc>
                <a:spcPts val="3586"/>
              </a:lnSpc>
              <a:buFont typeface="Arial"/>
              <a:buChar char="•"/>
            </a:pPr>
            <a:r>
              <a:rPr lang="en-US" sz="220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Like to burrow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93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9923" y="3139543"/>
            <a:ext cx="1248700" cy="945142"/>
            <a:chOff x="0" y="0"/>
            <a:chExt cx="691403" cy="5233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91403" cy="523323"/>
            </a:xfrm>
            <a:custGeom>
              <a:avLst/>
              <a:gdLst/>
              <a:ahLst/>
              <a:cxnLst/>
              <a:rect l="l" t="t" r="r" b="b"/>
              <a:pathLst>
                <a:path w="691403" h="523323">
                  <a:moveTo>
                    <a:pt x="203200" y="0"/>
                  </a:moveTo>
                  <a:lnTo>
                    <a:pt x="691403" y="0"/>
                  </a:lnTo>
                  <a:lnTo>
                    <a:pt x="488203" y="523323"/>
                  </a:lnTo>
                  <a:lnTo>
                    <a:pt x="0" y="5233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488203" cy="561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0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54809" y="3139543"/>
            <a:ext cx="1248700" cy="945142"/>
            <a:chOff x="0" y="0"/>
            <a:chExt cx="691403" cy="5233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91403" cy="523323"/>
            </a:xfrm>
            <a:custGeom>
              <a:avLst/>
              <a:gdLst/>
              <a:ahLst/>
              <a:cxnLst/>
              <a:rect l="l" t="t" r="r" b="b"/>
              <a:pathLst>
                <a:path w="691403" h="523323">
                  <a:moveTo>
                    <a:pt x="203200" y="0"/>
                  </a:moveTo>
                  <a:lnTo>
                    <a:pt x="691403" y="0"/>
                  </a:lnTo>
                  <a:lnTo>
                    <a:pt x="488203" y="523323"/>
                  </a:lnTo>
                  <a:lnTo>
                    <a:pt x="0" y="5233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488203" cy="561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718471" y="5682718"/>
            <a:ext cx="1248700" cy="945142"/>
            <a:chOff x="0" y="0"/>
            <a:chExt cx="691403" cy="52332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1403" cy="523323"/>
            </a:xfrm>
            <a:custGeom>
              <a:avLst/>
              <a:gdLst/>
              <a:ahLst/>
              <a:cxnLst/>
              <a:rect l="l" t="t" r="r" b="b"/>
              <a:pathLst>
                <a:path w="691403" h="523323">
                  <a:moveTo>
                    <a:pt x="203200" y="0"/>
                  </a:moveTo>
                  <a:lnTo>
                    <a:pt x="691403" y="0"/>
                  </a:lnTo>
                  <a:lnTo>
                    <a:pt x="488203" y="523323"/>
                  </a:lnTo>
                  <a:lnTo>
                    <a:pt x="0" y="523323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488203" cy="561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0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60437" y="3634819"/>
            <a:ext cx="4494372" cy="590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295" lvl="1" indent="-290830" algn="l">
              <a:lnSpc>
                <a:spcPts val="6749"/>
              </a:lnSpc>
              <a:buFont typeface="Arial"/>
              <a:buChar char="•"/>
            </a:pPr>
            <a:r>
              <a:rPr lang="en-US" sz="265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8-10" long (small bins)</a:t>
            </a:r>
            <a:endParaRPr lang="en-US" sz="2650"/>
          </a:p>
          <a:p>
            <a:pPr marL="582295" lvl="1" indent="-290830" algn="l">
              <a:lnSpc>
                <a:spcPts val="6749"/>
              </a:lnSpc>
              <a:buFont typeface="Arial"/>
              <a:buChar char="•"/>
            </a:pPr>
            <a:r>
              <a:rPr lang="en-US" sz="265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12-15" long (large bins)</a:t>
            </a:r>
            <a:endParaRPr lang="en-US" sz="2650">
              <a:solidFill>
                <a:srgbClr val="FFFFFF"/>
              </a:solidFill>
              <a:latin typeface="Prompt"/>
              <a:ea typeface="Prompt"/>
              <a:cs typeface="Prompt"/>
            </a:endParaRPr>
          </a:p>
          <a:p>
            <a:pPr marL="582295" lvl="1" indent="-290830" algn="l">
              <a:lnSpc>
                <a:spcPts val="6749"/>
              </a:lnSpc>
              <a:buFont typeface="Arial"/>
              <a:buChar char="•"/>
            </a:pPr>
            <a:r>
              <a:rPr lang="en-US" sz="265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4" wide MAX</a:t>
            </a:r>
            <a:endParaRPr lang="en-US" sz="2650">
              <a:solidFill>
                <a:srgbClr val="FFFFFF"/>
              </a:solidFill>
              <a:latin typeface="Prompt"/>
              <a:ea typeface="Prompt"/>
              <a:cs typeface="Prompt"/>
            </a:endParaRPr>
          </a:p>
          <a:p>
            <a:pPr marL="582295" lvl="1" indent="-290830" algn="l">
              <a:lnSpc>
                <a:spcPts val="6749"/>
              </a:lnSpc>
              <a:buFont typeface="Arial"/>
              <a:buChar char="•"/>
            </a:pPr>
            <a:r>
              <a:rPr lang="en-US" sz="265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3-4" tall MAX</a:t>
            </a:r>
            <a:endParaRPr lang="en-US" sz="2650">
              <a:solidFill>
                <a:srgbClr val="FFFFFF"/>
              </a:solidFill>
              <a:latin typeface="Prompt"/>
              <a:ea typeface="Prompt"/>
              <a:cs typeface="Prompt"/>
            </a:endParaRPr>
          </a:p>
          <a:p>
            <a:pPr marL="582295" lvl="1" indent="-290830" algn="l">
              <a:lnSpc>
                <a:spcPts val="674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Textured grip surface</a:t>
            </a:r>
            <a:endParaRPr lang="en-US" sz="2699">
              <a:solidFill>
                <a:srgbClr val="FFFFFF"/>
              </a:solidFill>
              <a:latin typeface="Prompt"/>
              <a:ea typeface="Prompt"/>
              <a:cs typeface="Prompt"/>
            </a:endParaRPr>
          </a:p>
          <a:p>
            <a:pPr marL="582295" lvl="1" indent="-290830" algn="l">
              <a:lnSpc>
                <a:spcPts val="674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Ventilation holes</a:t>
            </a:r>
            <a:endParaRPr lang="en-US" sz="2699">
              <a:solidFill>
                <a:srgbClr val="FFFFFF"/>
              </a:solidFill>
              <a:latin typeface="Prompt"/>
              <a:ea typeface="Prompt"/>
              <a:cs typeface="Prompt"/>
            </a:endParaRPr>
          </a:p>
          <a:p>
            <a:pPr marL="582295" lvl="1" indent="-290830" algn="l">
              <a:lnSpc>
                <a:spcPts val="674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Multiple entry/exit</a:t>
            </a:r>
            <a:endParaRPr lang="en-US" sz="2699">
              <a:solidFill>
                <a:srgbClr val="FFFFFF"/>
              </a:solidFill>
              <a:latin typeface="Prompt"/>
              <a:ea typeface="Prompt"/>
              <a:cs typeface="Promp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120457" y="3634819"/>
            <a:ext cx="4379238" cy="5888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0" lvl="1" indent="-291465" algn="l">
              <a:lnSpc>
                <a:spcPts val="675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No wood</a:t>
            </a:r>
          </a:p>
          <a:p>
            <a:pPr marL="582930" lvl="1" indent="-291465" algn="l">
              <a:lnSpc>
                <a:spcPts val="675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Acrylic/sturdy plastic</a:t>
            </a:r>
          </a:p>
          <a:p>
            <a:pPr marL="582930" lvl="1" indent="-291465" algn="l">
              <a:lnSpc>
                <a:spcPts val="675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Non-toxic material</a:t>
            </a:r>
          </a:p>
          <a:p>
            <a:pPr marL="582930" lvl="1" indent="-291465" algn="l">
              <a:lnSpc>
                <a:spcPts val="675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No stain/paint/etc.</a:t>
            </a:r>
          </a:p>
          <a:p>
            <a:pPr marL="582930" lvl="1" indent="-291465" algn="l">
              <a:lnSpc>
                <a:spcPts val="675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Smooth edges</a:t>
            </a:r>
          </a:p>
          <a:p>
            <a:pPr marL="582930" lvl="1" indent="-291465" algn="l">
              <a:lnSpc>
                <a:spcPts val="675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$50 budget</a:t>
            </a:r>
          </a:p>
          <a:p>
            <a:pPr marL="582930" lvl="1" indent="-291465" algn="l">
              <a:lnSpc>
                <a:spcPts val="675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No small pieces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282626"/>
            <a:ext cx="811146" cy="685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6"/>
              </a:lnSpc>
            </a:pPr>
            <a:r>
              <a:rPr lang="en-US" sz="4311" b="1" spc="-21">
                <a:solidFill>
                  <a:srgbClr val="FFFFFF"/>
                </a:solidFill>
                <a:latin typeface="Prompt Medium"/>
                <a:ea typeface="Prompt Medium"/>
                <a:cs typeface="Prompt Medium"/>
                <a:sym typeface="Prompt Medium"/>
              </a:rPr>
              <a:t>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373586" y="3282626"/>
            <a:ext cx="811146" cy="685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6"/>
              </a:lnSpc>
            </a:pPr>
            <a:r>
              <a:rPr lang="en-US" sz="4311" b="1" spc="-21">
                <a:solidFill>
                  <a:srgbClr val="FFFFFF"/>
                </a:solidFill>
                <a:latin typeface="Prompt Medium"/>
                <a:ea typeface="Prompt Medium"/>
                <a:cs typeface="Prompt Medium"/>
                <a:sym typeface="Prompt Medium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302955" y="3204240"/>
            <a:ext cx="4070630" cy="55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1"/>
              </a:lnSpc>
            </a:pPr>
            <a:r>
              <a:rPr lang="en-US" sz="3599" b="1" spc="-17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Requirements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47841" y="3204240"/>
            <a:ext cx="3851854" cy="55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1"/>
              </a:lnSpc>
            </a:pPr>
            <a:r>
              <a:rPr lang="en-US" sz="3599" b="1" spc="-17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Constraints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9923" y="1000125"/>
            <a:ext cx="10908548" cy="1482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1"/>
              </a:lnSpc>
            </a:pPr>
            <a:r>
              <a:rPr lang="en-US" sz="4717" b="1" spc="-23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REQUIREMENTS, CONSTRAINTS, &amp; DESIGN CRITERIA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937248" y="5825801"/>
            <a:ext cx="811146" cy="685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76"/>
              </a:lnSpc>
            </a:pPr>
            <a:r>
              <a:rPr lang="en-US" sz="4311" b="1" spc="-21">
                <a:solidFill>
                  <a:srgbClr val="FFFFFF"/>
                </a:solidFill>
                <a:latin typeface="Prompt Medium"/>
                <a:ea typeface="Prompt Medium"/>
                <a:cs typeface="Prompt Medium"/>
                <a:sym typeface="Prompt Medium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211503" y="5747415"/>
            <a:ext cx="3851854" cy="558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71"/>
              </a:lnSpc>
            </a:pPr>
            <a:r>
              <a:rPr lang="en-US" sz="3599" b="1" spc="-17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Design Criteria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568985" y="6177994"/>
            <a:ext cx="4494372" cy="32785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8" lvl="1" indent="-291464" algn="l">
              <a:lnSpc>
                <a:spcPts val="674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Cleanability (30%)</a:t>
            </a:r>
          </a:p>
          <a:p>
            <a:pPr marL="582928" lvl="1" indent="-291464" algn="l">
              <a:lnSpc>
                <a:spcPts val="674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Size/Space (40%)</a:t>
            </a:r>
          </a:p>
          <a:p>
            <a:pPr marL="582928" lvl="1" indent="-291464" algn="l">
              <a:lnSpc>
                <a:spcPts val="674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Natural Look (20%)</a:t>
            </a:r>
          </a:p>
          <a:p>
            <a:pPr marL="582928" lvl="1" indent="-291464" algn="l">
              <a:lnSpc>
                <a:spcPts val="6749"/>
              </a:lnSpc>
              <a:buFont typeface="Arial"/>
              <a:buChar char="•"/>
            </a:pPr>
            <a:r>
              <a:rPr lang="en-US" sz="2699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Elevation (10%)</a:t>
            </a:r>
          </a:p>
        </p:txBody>
      </p:sp>
      <p:sp>
        <p:nvSpPr>
          <p:cNvPr id="21" name="Freeform 21"/>
          <p:cNvSpPr/>
          <p:nvPr/>
        </p:nvSpPr>
        <p:spPr>
          <a:xfrm>
            <a:off x="11090156" y="577327"/>
            <a:ext cx="3316476" cy="3828579"/>
          </a:xfrm>
          <a:custGeom>
            <a:avLst/>
            <a:gdLst/>
            <a:ahLst/>
            <a:cxnLst/>
            <a:rect l="l" t="t" r="r" b="b"/>
            <a:pathLst>
              <a:path w="3316476" h="3828579">
                <a:moveTo>
                  <a:pt x="0" y="0"/>
                </a:moveTo>
                <a:lnTo>
                  <a:pt x="3316476" y="0"/>
                </a:lnTo>
                <a:lnTo>
                  <a:pt x="3316476" y="3828580"/>
                </a:lnTo>
                <a:lnTo>
                  <a:pt x="0" y="38285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47625" cap="rnd">
            <a:solidFill>
              <a:srgbClr val="00BF63"/>
            </a:solidFill>
            <a:prstDash val="solid"/>
            <a:round/>
          </a:ln>
        </p:spPr>
      </p:sp>
      <p:sp>
        <p:nvSpPr>
          <p:cNvPr id="22" name="Freeform 22"/>
          <p:cNvSpPr/>
          <p:nvPr/>
        </p:nvSpPr>
        <p:spPr>
          <a:xfrm>
            <a:off x="13970967" y="2568364"/>
            <a:ext cx="4317033" cy="2799660"/>
          </a:xfrm>
          <a:custGeom>
            <a:avLst/>
            <a:gdLst/>
            <a:ahLst/>
            <a:cxnLst/>
            <a:rect l="l" t="t" r="r" b="b"/>
            <a:pathLst>
              <a:path w="4317033" h="2799660">
                <a:moveTo>
                  <a:pt x="0" y="0"/>
                </a:moveTo>
                <a:lnTo>
                  <a:pt x="4317033" y="0"/>
                </a:lnTo>
                <a:lnTo>
                  <a:pt x="4317033" y="2799659"/>
                </a:lnTo>
                <a:lnTo>
                  <a:pt x="0" y="27996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w="47625" cap="rnd">
            <a:solidFill>
              <a:srgbClr val="00BF63"/>
            </a:solidFill>
            <a:prstDash val="solid"/>
            <a:round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93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153935" y="9759040"/>
            <a:ext cx="206093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1057275" y="4597041"/>
            <a:ext cx="8086725" cy="4347262"/>
            <a:chOff x="0" y="0"/>
            <a:chExt cx="2129837" cy="11449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29837" cy="1144958"/>
            </a:xfrm>
            <a:custGeom>
              <a:avLst/>
              <a:gdLst/>
              <a:ahLst/>
              <a:cxnLst/>
              <a:rect l="l" t="t" r="r" b="b"/>
              <a:pathLst>
                <a:path w="2129837" h="1144958">
                  <a:moveTo>
                    <a:pt x="16275" y="0"/>
                  </a:moveTo>
                  <a:lnTo>
                    <a:pt x="2113562" y="0"/>
                  </a:lnTo>
                  <a:cubicBezTo>
                    <a:pt x="2122550" y="0"/>
                    <a:pt x="2129837" y="7287"/>
                    <a:pt x="2129837" y="16275"/>
                  </a:cubicBezTo>
                  <a:lnTo>
                    <a:pt x="2129837" y="1128683"/>
                  </a:lnTo>
                  <a:cubicBezTo>
                    <a:pt x="2129837" y="1137671"/>
                    <a:pt x="2122550" y="1144958"/>
                    <a:pt x="2113562" y="1144958"/>
                  </a:cubicBezTo>
                  <a:lnTo>
                    <a:pt x="16275" y="1144958"/>
                  </a:lnTo>
                  <a:cubicBezTo>
                    <a:pt x="7287" y="1144958"/>
                    <a:pt x="0" y="1137671"/>
                    <a:pt x="0" y="1128683"/>
                  </a:cubicBezTo>
                  <a:lnTo>
                    <a:pt x="0" y="16275"/>
                  </a:lnTo>
                  <a:cubicBezTo>
                    <a:pt x="0" y="7287"/>
                    <a:pt x="7287" y="0"/>
                    <a:pt x="16275" y="0"/>
                  </a:cubicBezTo>
                  <a:close/>
                </a:path>
              </a:pathLst>
            </a:custGeom>
            <a:solidFill>
              <a:srgbClr val="00BF63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129837" cy="1192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232115" y="4597041"/>
            <a:ext cx="8027185" cy="4347262"/>
            <a:chOff x="0" y="0"/>
            <a:chExt cx="2114156" cy="11449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114156" cy="1144958"/>
            </a:xfrm>
            <a:custGeom>
              <a:avLst/>
              <a:gdLst/>
              <a:ahLst/>
              <a:cxnLst/>
              <a:rect l="l" t="t" r="r" b="b"/>
              <a:pathLst>
                <a:path w="2114156" h="1144958">
                  <a:moveTo>
                    <a:pt x="16396" y="0"/>
                  </a:moveTo>
                  <a:lnTo>
                    <a:pt x="2097760" y="0"/>
                  </a:lnTo>
                  <a:cubicBezTo>
                    <a:pt x="2106815" y="0"/>
                    <a:pt x="2114156" y="7341"/>
                    <a:pt x="2114156" y="16396"/>
                  </a:cubicBezTo>
                  <a:lnTo>
                    <a:pt x="2114156" y="1128562"/>
                  </a:lnTo>
                  <a:cubicBezTo>
                    <a:pt x="2114156" y="1137617"/>
                    <a:pt x="2106815" y="1144958"/>
                    <a:pt x="2097760" y="1144958"/>
                  </a:cubicBezTo>
                  <a:lnTo>
                    <a:pt x="16396" y="1144958"/>
                  </a:lnTo>
                  <a:cubicBezTo>
                    <a:pt x="7341" y="1144958"/>
                    <a:pt x="0" y="1137617"/>
                    <a:pt x="0" y="1128562"/>
                  </a:cubicBezTo>
                  <a:lnTo>
                    <a:pt x="0" y="16396"/>
                  </a:lnTo>
                  <a:cubicBezTo>
                    <a:pt x="0" y="7341"/>
                    <a:pt x="7341" y="0"/>
                    <a:pt x="16396" y="0"/>
                  </a:cubicBezTo>
                  <a:close/>
                </a:path>
              </a:pathLst>
            </a:custGeom>
            <a:solidFill>
              <a:srgbClr val="00BF63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114156" cy="1192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6"/>
                </a:lnSpc>
              </a:pPr>
              <a:endParaRPr/>
            </a:p>
          </p:txBody>
        </p: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7383621" y="387596"/>
            <a:ext cx="9326880" cy="3953875"/>
            <a:chOff x="0" y="0"/>
            <a:chExt cx="7219950" cy="30607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21220" cy="3061970"/>
            </a:xfrm>
            <a:custGeom>
              <a:avLst/>
              <a:gdLst/>
              <a:ahLst/>
              <a:cxnLst/>
              <a:rect l="l" t="t" r="r" b="b"/>
              <a:pathLst>
                <a:path w="7221220" h="3061970">
                  <a:moveTo>
                    <a:pt x="0" y="438150"/>
                  </a:moveTo>
                  <a:lnTo>
                    <a:pt x="2367280" y="438150"/>
                  </a:lnTo>
                  <a:lnTo>
                    <a:pt x="2367280" y="2622550"/>
                  </a:lnTo>
                  <a:lnTo>
                    <a:pt x="0" y="2622550"/>
                  </a:lnTo>
                  <a:lnTo>
                    <a:pt x="0" y="2646680"/>
                  </a:lnTo>
                  <a:lnTo>
                    <a:pt x="7219950" y="2646680"/>
                  </a:lnTo>
                  <a:lnTo>
                    <a:pt x="7219950" y="2622550"/>
                  </a:lnTo>
                  <a:lnTo>
                    <a:pt x="4852670" y="2622550"/>
                  </a:lnTo>
                  <a:lnTo>
                    <a:pt x="4852670" y="438150"/>
                  </a:lnTo>
                  <a:lnTo>
                    <a:pt x="7219950" y="438150"/>
                  </a:lnTo>
                  <a:lnTo>
                    <a:pt x="7219950" y="414020"/>
                  </a:lnTo>
                  <a:lnTo>
                    <a:pt x="0" y="414020"/>
                  </a:lnTo>
                  <a:lnTo>
                    <a:pt x="0" y="438150"/>
                  </a:lnTo>
                  <a:close/>
                  <a:moveTo>
                    <a:pt x="4828540" y="2622550"/>
                  </a:moveTo>
                  <a:lnTo>
                    <a:pt x="2390140" y="2622550"/>
                  </a:lnTo>
                  <a:lnTo>
                    <a:pt x="2390140" y="438150"/>
                  </a:lnTo>
                  <a:lnTo>
                    <a:pt x="4828540" y="438150"/>
                  </a:lnTo>
                  <a:lnTo>
                    <a:pt x="4828540" y="2622550"/>
                  </a:lnTo>
                  <a:close/>
                  <a:moveTo>
                    <a:pt x="7110730" y="322580"/>
                  </a:moveTo>
                  <a:lnTo>
                    <a:pt x="7110730" y="213360"/>
                  </a:lnTo>
                  <a:lnTo>
                    <a:pt x="7062470" y="213360"/>
                  </a:lnTo>
                  <a:lnTo>
                    <a:pt x="7062470" y="322580"/>
                  </a:lnTo>
                  <a:lnTo>
                    <a:pt x="3731260" y="322580"/>
                  </a:lnTo>
                  <a:lnTo>
                    <a:pt x="3643630" y="234950"/>
                  </a:lnTo>
                  <a:lnTo>
                    <a:pt x="3710940" y="167640"/>
                  </a:lnTo>
                  <a:lnTo>
                    <a:pt x="3745230" y="133350"/>
                  </a:lnTo>
                  <a:lnTo>
                    <a:pt x="3610610" y="0"/>
                  </a:lnTo>
                  <a:lnTo>
                    <a:pt x="3475990" y="134620"/>
                  </a:lnTo>
                  <a:lnTo>
                    <a:pt x="3510280" y="168910"/>
                  </a:lnTo>
                  <a:lnTo>
                    <a:pt x="3577590" y="236220"/>
                  </a:lnTo>
                  <a:lnTo>
                    <a:pt x="3489960" y="323850"/>
                  </a:lnTo>
                  <a:lnTo>
                    <a:pt x="157480" y="323850"/>
                  </a:lnTo>
                  <a:lnTo>
                    <a:pt x="157480" y="214630"/>
                  </a:lnTo>
                  <a:lnTo>
                    <a:pt x="109220" y="214630"/>
                  </a:lnTo>
                  <a:lnTo>
                    <a:pt x="109220" y="323850"/>
                  </a:lnTo>
                  <a:lnTo>
                    <a:pt x="0" y="323850"/>
                  </a:lnTo>
                  <a:lnTo>
                    <a:pt x="0" y="372110"/>
                  </a:lnTo>
                  <a:lnTo>
                    <a:pt x="3509010" y="372110"/>
                  </a:lnTo>
                  <a:lnTo>
                    <a:pt x="3610610" y="270510"/>
                  </a:lnTo>
                  <a:lnTo>
                    <a:pt x="3712210" y="372110"/>
                  </a:lnTo>
                  <a:lnTo>
                    <a:pt x="7221220" y="372110"/>
                  </a:lnTo>
                  <a:lnTo>
                    <a:pt x="7221220" y="323850"/>
                  </a:lnTo>
                  <a:lnTo>
                    <a:pt x="7110730" y="323850"/>
                  </a:lnTo>
                  <a:close/>
                  <a:moveTo>
                    <a:pt x="3542030" y="134620"/>
                  </a:moveTo>
                  <a:lnTo>
                    <a:pt x="3609340" y="67310"/>
                  </a:lnTo>
                  <a:lnTo>
                    <a:pt x="3676650" y="134620"/>
                  </a:lnTo>
                  <a:lnTo>
                    <a:pt x="3609340" y="201930"/>
                  </a:lnTo>
                  <a:lnTo>
                    <a:pt x="3542030" y="134620"/>
                  </a:lnTo>
                  <a:close/>
                  <a:moveTo>
                    <a:pt x="3710940" y="2689860"/>
                  </a:moveTo>
                  <a:lnTo>
                    <a:pt x="3609340" y="2791460"/>
                  </a:lnTo>
                  <a:lnTo>
                    <a:pt x="3507740" y="2689860"/>
                  </a:lnTo>
                  <a:lnTo>
                    <a:pt x="0" y="2689860"/>
                  </a:lnTo>
                  <a:lnTo>
                    <a:pt x="0" y="2738120"/>
                  </a:lnTo>
                  <a:lnTo>
                    <a:pt x="109220" y="2738120"/>
                  </a:lnTo>
                  <a:lnTo>
                    <a:pt x="109220" y="2847340"/>
                  </a:lnTo>
                  <a:lnTo>
                    <a:pt x="157480" y="2847340"/>
                  </a:lnTo>
                  <a:lnTo>
                    <a:pt x="157480" y="2738120"/>
                  </a:lnTo>
                  <a:lnTo>
                    <a:pt x="3489960" y="2738120"/>
                  </a:lnTo>
                  <a:lnTo>
                    <a:pt x="3577590" y="2825750"/>
                  </a:lnTo>
                  <a:lnTo>
                    <a:pt x="3510280" y="2893060"/>
                  </a:lnTo>
                  <a:lnTo>
                    <a:pt x="3475990" y="2927350"/>
                  </a:lnTo>
                  <a:lnTo>
                    <a:pt x="3610610" y="3061970"/>
                  </a:lnTo>
                  <a:lnTo>
                    <a:pt x="3712210" y="2960370"/>
                  </a:lnTo>
                  <a:lnTo>
                    <a:pt x="3746500" y="2926080"/>
                  </a:lnTo>
                  <a:lnTo>
                    <a:pt x="3644900" y="2824480"/>
                  </a:lnTo>
                  <a:lnTo>
                    <a:pt x="3732530" y="2736850"/>
                  </a:lnTo>
                  <a:lnTo>
                    <a:pt x="7063739" y="2736850"/>
                  </a:lnTo>
                  <a:lnTo>
                    <a:pt x="7063739" y="2846070"/>
                  </a:lnTo>
                  <a:lnTo>
                    <a:pt x="7110730" y="2846070"/>
                  </a:lnTo>
                  <a:lnTo>
                    <a:pt x="7110730" y="2736850"/>
                  </a:lnTo>
                  <a:lnTo>
                    <a:pt x="7219949" y="2736850"/>
                  </a:lnTo>
                  <a:lnTo>
                    <a:pt x="7219949" y="2688590"/>
                  </a:lnTo>
                  <a:lnTo>
                    <a:pt x="3710939" y="2689860"/>
                  </a:lnTo>
                  <a:close/>
                  <a:moveTo>
                    <a:pt x="3677920" y="2926080"/>
                  </a:moveTo>
                  <a:lnTo>
                    <a:pt x="3610610" y="2993390"/>
                  </a:lnTo>
                  <a:lnTo>
                    <a:pt x="3543300" y="2926080"/>
                  </a:lnTo>
                  <a:lnTo>
                    <a:pt x="3610610" y="2858770"/>
                  </a:lnTo>
                  <a:lnTo>
                    <a:pt x="3677920" y="292608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521970"/>
              <a:ext cx="2296160" cy="2016760"/>
            </a:xfrm>
            <a:custGeom>
              <a:avLst/>
              <a:gdLst/>
              <a:ahLst/>
              <a:cxnLst/>
              <a:rect l="l" t="t" r="r" b="b"/>
              <a:pathLst>
                <a:path w="2296160" h="2016760">
                  <a:moveTo>
                    <a:pt x="0" y="0"/>
                  </a:moveTo>
                  <a:lnTo>
                    <a:pt x="2296160" y="0"/>
                  </a:lnTo>
                  <a:lnTo>
                    <a:pt x="2296160" y="2016760"/>
                  </a:lnTo>
                  <a:lnTo>
                    <a:pt x="0" y="2016760"/>
                  </a:lnTo>
                  <a:close/>
                </a:path>
              </a:pathLst>
            </a:custGeom>
            <a:blipFill>
              <a:blip r:embed="rId2"/>
              <a:stretch>
                <a:fillRect t="-32307" r="-6829" b="-29865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2462530" y="521970"/>
              <a:ext cx="2296160" cy="2016760"/>
            </a:xfrm>
            <a:custGeom>
              <a:avLst/>
              <a:gdLst/>
              <a:ahLst/>
              <a:cxnLst/>
              <a:rect l="l" t="t" r="r" b="b"/>
              <a:pathLst>
                <a:path w="2296160" h="2016760">
                  <a:moveTo>
                    <a:pt x="0" y="0"/>
                  </a:moveTo>
                  <a:lnTo>
                    <a:pt x="2296160" y="0"/>
                  </a:lnTo>
                  <a:lnTo>
                    <a:pt x="2296160" y="2016760"/>
                  </a:lnTo>
                  <a:lnTo>
                    <a:pt x="0" y="2016760"/>
                  </a:lnTo>
                  <a:close/>
                </a:path>
              </a:pathLst>
            </a:custGeom>
            <a:blipFill>
              <a:blip r:embed="rId3"/>
              <a:stretch>
                <a:fillRect t="-14792" b="-37012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4923790" y="521970"/>
              <a:ext cx="2296160" cy="2016760"/>
            </a:xfrm>
            <a:custGeom>
              <a:avLst/>
              <a:gdLst/>
              <a:ahLst/>
              <a:cxnLst/>
              <a:rect l="l" t="t" r="r" b="b"/>
              <a:pathLst>
                <a:path w="2296160" h="2016760">
                  <a:moveTo>
                    <a:pt x="0" y="0"/>
                  </a:moveTo>
                  <a:lnTo>
                    <a:pt x="2296160" y="0"/>
                  </a:lnTo>
                  <a:lnTo>
                    <a:pt x="2296160" y="2016760"/>
                  </a:lnTo>
                  <a:lnTo>
                    <a:pt x="0" y="2016760"/>
                  </a:lnTo>
                  <a:close/>
                </a:path>
              </a:pathLst>
            </a:custGeom>
            <a:blipFill>
              <a:blip r:embed="rId4"/>
              <a:stretch>
                <a:fillRect t="-26204" b="-25600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215599" y="5597630"/>
            <a:ext cx="7607087" cy="3651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Two-piece slide connection​</a:t>
            </a:r>
          </a:p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8" long, 4" diameter​</a:t>
            </a:r>
          </a:p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Half-cylinder log shape​</a:t>
            </a:r>
          </a:p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Internal dark chambers​</a:t>
            </a:r>
          </a:p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Ventilation slits (top)​</a:t>
            </a:r>
          </a:p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Multiple entry/exit holes</a:t>
            </a:r>
          </a:p>
          <a:p>
            <a:pPr marL="0" lvl="0" indent="0" algn="l">
              <a:lnSpc>
                <a:spcPts val="4170"/>
              </a:lnSpc>
            </a:pPr>
            <a:endParaRPr lang="en-US" sz="3000">
              <a:solidFill>
                <a:srgbClr val="FFFFFF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15599" y="4804832"/>
            <a:ext cx="4124857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i="1">
                <a:solidFill>
                  <a:srgbClr val="FFFFFF"/>
                </a:solidFill>
                <a:latin typeface="Prompt Italics"/>
                <a:ea typeface="Prompt Italics"/>
                <a:cs typeface="Prompt Italics"/>
                <a:sym typeface="Prompt Italics"/>
              </a:rPr>
              <a:t>3-D PRINTED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9590" y="1530441"/>
            <a:ext cx="7097302" cy="834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640"/>
              </a:lnSpc>
            </a:pPr>
            <a:r>
              <a:rPr lang="en-US" sz="5312" b="1" spc="-58">
                <a:solidFill>
                  <a:srgbClr val="FFFFFF"/>
                </a:solidFill>
                <a:latin typeface="Prompt Medium"/>
                <a:ea typeface="Prompt Medium"/>
                <a:cs typeface="Prompt Medium"/>
                <a:sym typeface="Prompt Medium"/>
              </a:rPr>
              <a:t>FIRST PROTOTYPE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47061" y="4804832"/>
            <a:ext cx="4957348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sz="3999" i="1">
                <a:solidFill>
                  <a:srgbClr val="FFFFFF"/>
                </a:solidFill>
                <a:latin typeface="Prompt Italics"/>
                <a:ea typeface="Prompt Italics"/>
                <a:cs typeface="Prompt Italics"/>
                <a:sym typeface="Prompt Italics"/>
              </a:rPr>
              <a:t>ClLIENT FEEDBACK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442164" y="5597630"/>
            <a:ext cx="7607087" cy="2080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Add texture on bottom piece</a:t>
            </a:r>
          </a:p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Add vent holes on bottom piece</a:t>
            </a:r>
          </a:p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Thinner design if possible</a:t>
            </a:r>
          </a:p>
          <a:p>
            <a:pPr marL="647700" lvl="1" indent="-323850" algn="l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Make sliding easier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93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95125" y="2616373"/>
            <a:ext cx="10064175" cy="6757301"/>
            <a:chOff x="0" y="0"/>
            <a:chExt cx="2650647" cy="17797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50647" cy="1779701"/>
            </a:xfrm>
            <a:custGeom>
              <a:avLst/>
              <a:gdLst/>
              <a:ahLst/>
              <a:cxnLst/>
              <a:rect l="l" t="t" r="r" b="b"/>
              <a:pathLst>
                <a:path w="2650647" h="1779701">
                  <a:moveTo>
                    <a:pt x="19231" y="0"/>
                  </a:moveTo>
                  <a:lnTo>
                    <a:pt x="2631415" y="0"/>
                  </a:lnTo>
                  <a:cubicBezTo>
                    <a:pt x="2642037" y="0"/>
                    <a:pt x="2650647" y="8610"/>
                    <a:pt x="2650647" y="19231"/>
                  </a:cubicBezTo>
                  <a:lnTo>
                    <a:pt x="2650647" y="1760469"/>
                  </a:lnTo>
                  <a:cubicBezTo>
                    <a:pt x="2650647" y="1771091"/>
                    <a:pt x="2642037" y="1779701"/>
                    <a:pt x="2631415" y="1779701"/>
                  </a:cubicBezTo>
                  <a:lnTo>
                    <a:pt x="19231" y="1779701"/>
                  </a:lnTo>
                  <a:cubicBezTo>
                    <a:pt x="8610" y="1779701"/>
                    <a:pt x="0" y="1771091"/>
                    <a:pt x="0" y="1760469"/>
                  </a:cubicBezTo>
                  <a:lnTo>
                    <a:pt x="0" y="19231"/>
                  </a:lnTo>
                  <a:cubicBezTo>
                    <a:pt x="0" y="8610"/>
                    <a:pt x="8610" y="0"/>
                    <a:pt x="19231" y="0"/>
                  </a:cubicBezTo>
                  <a:close/>
                </a:path>
              </a:pathLst>
            </a:custGeom>
            <a:solidFill>
              <a:srgbClr val="00BF63">
                <a:alpha val="55686"/>
              </a:srgbClr>
            </a:solidFill>
            <a:ln w="28575" cap="rnd">
              <a:solidFill>
                <a:srgbClr val="000000">
                  <a:alpha val="55686"/>
                </a:srgbClr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2650647" cy="1855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21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292525" y="2763641"/>
            <a:ext cx="6702576" cy="5250962"/>
            <a:chOff x="0" y="0"/>
            <a:chExt cx="24364950" cy="19088100"/>
          </a:xfrm>
        </p:grpSpPr>
        <p:sp>
          <p:nvSpPr>
            <p:cNvPr id="6" name="Freeform 6"/>
            <p:cNvSpPr/>
            <p:nvPr/>
          </p:nvSpPr>
          <p:spPr>
            <a:xfrm>
              <a:off x="95250" y="95250"/>
              <a:ext cx="11883390" cy="18897600"/>
            </a:xfrm>
            <a:custGeom>
              <a:avLst/>
              <a:gdLst/>
              <a:ahLst/>
              <a:cxnLst/>
              <a:rect l="l" t="t" r="r" b="b"/>
              <a:pathLst>
                <a:path w="11883390" h="18897600">
                  <a:moveTo>
                    <a:pt x="0" y="18897600"/>
                  </a:moveTo>
                  <a:lnTo>
                    <a:pt x="11451590" y="18897600"/>
                  </a:lnTo>
                  <a:lnTo>
                    <a:pt x="11488420" y="17251680"/>
                  </a:lnTo>
                  <a:lnTo>
                    <a:pt x="11504930" y="16530320"/>
                  </a:lnTo>
                  <a:lnTo>
                    <a:pt x="11615420" y="11719560"/>
                  </a:lnTo>
                  <a:lnTo>
                    <a:pt x="11630660" y="11050270"/>
                  </a:lnTo>
                  <a:lnTo>
                    <a:pt x="11654790" y="10005060"/>
                  </a:lnTo>
                  <a:lnTo>
                    <a:pt x="11671300" y="9274810"/>
                  </a:lnTo>
                  <a:lnTo>
                    <a:pt x="11676380" y="9034780"/>
                  </a:lnTo>
                  <a:lnTo>
                    <a:pt x="11682730" y="8759190"/>
                  </a:lnTo>
                  <a:lnTo>
                    <a:pt x="11687810" y="8535670"/>
                  </a:lnTo>
                  <a:lnTo>
                    <a:pt x="11883390" y="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062" b="-7675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2829540" y="95250"/>
              <a:ext cx="11440160" cy="5074920"/>
            </a:xfrm>
            <a:custGeom>
              <a:avLst/>
              <a:gdLst/>
              <a:ahLst/>
              <a:cxnLst/>
              <a:rect l="l" t="t" r="r" b="b"/>
              <a:pathLst>
                <a:path w="11440160" h="5074920">
                  <a:moveTo>
                    <a:pt x="101600" y="0"/>
                  </a:moveTo>
                  <a:lnTo>
                    <a:pt x="15240" y="3770630"/>
                  </a:lnTo>
                  <a:lnTo>
                    <a:pt x="13970" y="3846830"/>
                  </a:lnTo>
                  <a:lnTo>
                    <a:pt x="0" y="4813300"/>
                  </a:lnTo>
                  <a:lnTo>
                    <a:pt x="441960" y="4823460"/>
                  </a:lnTo>
                  <a:lnTo>
                    <a:pt x="1188721" y="4839970"/>
                  </a:lnTo>
                  <a:lnTo>
                    <a:pt x="10858499" y="5060950"/>
                  </a:lnTo>
                  <a:lnTo>
                    <a:pt x="11083290" y="5066030"/>
                  </a:lnTo>
                  <a:lnTo>
                    <a:pt x="11357610" y="5072380"/>
                  </a:lnTo>
                  <a:lnTo>
                    <a:pt x="11440160" y="5074920"/>
                  </a:lnTo>
                  <a:lnTo>
                    <a:pt x="11440160" y="0"/>
                  </a:lnTo>
                  <a:close/>
                </a:path>
              </a:pathLst>
            </a:custGeom>
            <a:blipFill>
              <a:blip r:embed="rId3"/>
              <a:stretch>
                <a:fillRect t="-121254" b="-179309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12499340" y="5923280"/>
              <a:ext cx="11770360" cy="13069570"/>
            </a:xfrm>
            <a:custGeom>
              <a:avLst/>
              <a:gdLst/>
              <a:ahLst/>
              <a:cxnLst/>
              <a:rect l="l" t="t" r="r" b="b"/>
              <a:pathLst>
                <a:path w="11770360" h="13069570">
                  <a:moveTo>
                    <a:pt x="11413490" y="254000"/>
                  </a:moveTo>
                  <a:lnTo>
                    <a:pt x="11188699" y="248920"/>
                  </a:lnTo>
                  <a:lnTo>
                    <a:pt x="1518921" y="27940"/>
                  </a:lnTo>
                  <a:lnTo>
                    <a:pt x="772160" y="11430"/>
                  </a:lnTo>
                  <a:lnTo>
                    <a:pt x="298450" y="0"/>
                  </a:lnTo>
                  <a:lnTo>
                    <a:pt x="236220" y="2707640"/>
                  </a:lnTo>
                  <a:lnTo>
                    <a:pt x="224790" y="3206750"/>
                  </a:lnTo>
                  <a:lnTo>
                    <a:pt x="219710" y="3446780"/>
                  </a:lnTo>
                  <a:lnTo>
                    <a:pt x="203200" y="4177030"/>
                  </a:lnTo>
                  <a:lnTo>
                    <a:pt x="179070" y="5222240"/>
                  </a:lnTo>
                  <a:lnTo>
                    <a:pt x="163830" y="5891530"/>
                  </a:lnTo>
                  <a:lnTo>
                    <a:pt x="53340" y="10702290"/>
                  </a:lnTo>
                  <a:lnTo>
                    <a:pt x="36830" y="11423650"/>
                  </a:lnTo>
                  <a:lnTo>
                    <a:pt x="0" y="13069570"/>
                  </a:lnTo>
                  <a:lnTo>
                    <a:pt x="11770360" y="13069570"/>
                  </a:lnTo>
                  <a:lnTo>
                    <a:pt x="11770360" y="262890"/>
                  </a:lnTo>
                  <a:lnTo>
                    <a:pt x="11687810" y="260350"/>
                  </a:lnTo>
                  <a:close/>
                </a:path>
              </a:pathLst>
            </a:custGeom>
            <a:blipFill>
              <a:blip r:embed="rId4"/>
              <a:stretch>
                <a:fillRect t="-27480" b="-32547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0" y="0"/>
              <a:ext cx="12075160" cy="19088100"/>
            </a:xfrm>
            <a:custGeom>
              <a:avLst/>
              <a:gdLst/>
              <a:ahLst/>
              <a:cxnLst/>
              <a:rect l="l" t="t" r="r" b="b"/>
              <a:pathLst>
                <a:path w="12075160" h="19088100">
                  <a:moveTo>
                    <a:pt x="0" y="19088100"/>
                  </a:moveTo>
                  <a:lnTo>
                    <a:pt x="11639550" y="19088100"/>
                  </a:lnTo>
                  <a:lnTo>
                    <a:pt x="12075160" y="0"/>
                  </a:lnTo>
                  <a:lnTo>
                    <a:pt x="0" y="0"/>
                  </a:lnTo>
                  <a:lnTo>
                    <a:pt x="0" y="19088100"/>
                  </a:lnTo>
                  <a:close/>
                  <a:moveTo>
                    <a:pt x="190500" y="190500"/>
                  </a:moveTo>
                  <a:lnTo>
                    <a:pt x="11880850" y="190500"/>
                  </a:lnTo>
                  <a:lnTo>
                    <a:pt x="11687810" y="8628380"/>
                  </a:lnTo>
                  <a:lnTo>
                    <a:pt x="11452860" y="18897600"/>
                  </a:lnTo>
                  <a:lnTo>
                    <a:pt x="190500" y="18897600"/>
                  </a:lnTo>
                  <a:lnTo>
                    <a:pt x="190500" y="19050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12731750" y="0"/>
              <a:ext cx="11631930" cy="5266690"/>
            </a:xfrm>
            <a:custGeom>
              <a:avLst/>
              <a:gdLst/>
              <a:ahLst/>
              <a:cxnLst/>
              <a:rect l="l" t="t" r="r" b="b"/>
              <a:pathLst>
                <a:path w="11631930" h="5266690">
                  <a:moveTo>
                    <a:pt x="105410" y="0"/>
                  </a:moveTo>
                  <a:lnTo>
                    <a:pt x="16510" y="3864610"/>
                  </a:lnTo>
                  <a:lnTo>
                    <a:pt x="0" y="5001260"/>
                  </a:lnTo>
                  <a:lnTo>
                    <a:pt x="1282700" y="5030470"/>
                  </a:lnTo>
                  <a:lnTo>
                    <a:pt x="10952480" y="5251450"/>
                  </a:lnTo>
                  <a:lnTo>
                    <a:pt x="11631930" y="5266690"/>
                  </a:lnTo>
                  <a:lnTo>
                    <a:pt x="11631930" y="0"/>
                  </a:lnTo>
                  <a:lnTo>
                    <a:pt x="105410" y="0"/>
                  </a:lnTo>
                  <a:close/>
                  <a:moveTo>
                    <a:pt x="11442700" y="5072380"/>
                  </a:moveTo>
                  <a:lnTo>
                    <a:pt x="10958830" y="5060950"/>
                  </a:lnTo>
                  <a:lnTo>
                    <a:pt x="1289050" y="4839970"/>
                  </a:lnTo>
                  <a:lnTo>
                    <a:pt x="194310" y="4814570"/>
                  </a:lnTo>
                  <a:lnTo>
                    <a:pt x="208280" y="3867150"/>
                  </a:lnTo>
                  <a:lnTo>
                    <a:pt x="292100" y="189230"/>
                  </a:lnTo>
                  <a:lnTo>
                    <a:pt x="11442700" y="189230"/>
                  </a:lnTo>
                  <a:lnTo>
                    <a:pt x="11442700" y="507238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2401550" y="5825490"/>
              <a:ext cx="11963400" cy="13262610"/>
            </a:xfrm>
            <a:custGeom>
              <a:avLst/>
              <a:gdLst/>
              <a:ahLst/>
              <a:cxnLst/>
              <a:rect l="l" t="t" r="r" b="b"/>
              <a:pathLst>
                <a:path w="11963400" h="13262610">
                  <a:moveTo>
                    <a:pt x="1619250" y="30480"/>
                  </a:moveTo>
                  <a:lnTo>
                    <a:pt x="303530" y="0"/>
                  </a:lnTo>
                  <a:lnTo>
                    <a:pt x="0" y="13262610"/>
                  </a:lnTo>
                  <a:lnTo>
                    <a:pt x="11963400" y="13262610"/>
                  </a:lnTo>
                  <a:lnTo>
                    <a:pt x="11963400" y="266700"/>
                  </a:lnTo>
                  <a:lnTo>
                    <a:pt x="11289030" y="251460"/>
                  </a:lnTo>
                  <a:lnTo>
                    <a:pt x="1619250" y="30480"/>
                  </a:lnTo>
                  <a:close/>
                  <a:moveTo>
                    <a:pt x="11772900" y="13072110"/>
                  </a:moveTo>
                  <a:lnTo>
                    <a:pt x="194310" y="13072110"/>
                  </a:lnTo>
                  <a:lnTo>
                    <a:pt x="246380" y="10802621"/>
                  </a:lnTo>
                  <a:lnTo>
                    <a:pt x="356870" y="5991861"/>
                  </a:lnTo>
                  <a:lnTo>
                    <a:pt x="429260" y="2807971"/>
                  </a:lnTo>
                  <a:lnTo>
                    <a:pt x="488950" y="195580"/>
                  </a:lnTo>
                  <a:lnTo>
                    <a:pt x="1614170" y="220980"/>
                  </a:lnTo>
                  <a:lnTo>
                    <a:pt x="11283950" y="441960"/>
                  </a:lnTo>
                  <a:lnTo>
                    <a:pt x="11772900" y="453390"/>
                  </a:lnTo>
                  <a:lnTo>
                    <a:pt x="11772900" y="13072110"/>
                  </a:lnTo>
                  <a:close/>
                </a:path>
              </a:pathLst>
            </a:custGeom>
            <a:solidFill>
              <a:srgbClr val="00BF63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1247834" y="599098"/>
            <a:ext cx="6033673" cy="1925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554"/>
              </a:lnSpc>
            </a:pPr>
            <a:r>
              <a:rPr lang="en-US" sz="6995" b="1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DESIGN CHANGES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508917" y="3065319"/>
            <a:ext cx="4168074" cy="2024270"/>
            <a:chOff x="0" y="0"/>
            <a:chExt cx="5557432" cy="2699026"/>
          </a:xfrm>
        </p:grpSpPr>
        <p:sp>
          <p:nvSpPr>
            <p:cNvPr id="14" name="TextBox 14"/>
            <p:cNvSpPr txBox="1"/>
            <p:nvPr/>
          </p:nvSpPr>
          <p:spPr>
            <a:xfrm>
              <a:off x="0" y="78323"/>
              <a:ext cx="448794" cy="5132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9"/>
                </a:lnSpc>
              </a:pPr>
              <a:r>
                <a:rPr lang="en-US" sz="2759">
                  <a:solidFill>
                    <a:srgbClr val="FFFFFF"/>
                  </a:solidFill>
                  <a:latin typeface="Prompt"/>
                  <a:ea typeface="Prompt"/>
                  <a:cs typeface="Prompt"/>
                  <a:sym typeface="Prompt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48794" y="28575"/>
              <a:ext cx="4254994" cy="635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4"/>
                </a:lnSpc>
              </a:pPr>
              <a:r>
                <a:rPr lang="en-US" sz="3282">
                  <a:solidFill>
                    <a:srgbClr val="FFFFFF"/>
                  </a:solidFill>
                  <a:latin typeface="Prompt"/>
                  <a:ea typeface="Prompt"/>
                  <a:cs typeface="Prompt"/>
                  <a:sym typeface="Prompt"/>
                </a:rPr>
                <a:t>Fuzzy Texture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48794" y="793503"/>
              <a:ext cx="5108638" cy="1905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56"/>
                </a:lnSpc>
              </a:pPr>
              <a:r>
                <a:rPr lang="en-US" sz="2455" spc="184">
                  <a:solidFill>
                    <a:srgbClr val="FFFFFF"/>
                  </a:solidFill>
                  <a:latin typeface="Prompt Light"/>
                  <a:ea typeface="Prompt Light"/>
                  <a:cs typeface="Prompt Light"/>
                  <a:sym typeface="Prompt Light"/>
                </a:rPr>
                <a:t>Added texture on inside and outside of bottom piece.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418810" y="3065319"/>
            <a:ext cx="4168074" cy="1591693"/>
            <a:chOff x="0" y="0"/>
            <a:chExt cx="5557432" cy="2122258"/>
          </a:xfrm>
        </p:grpSpPr>
        <p:sp>
          <p:nvSpPr>
            <p:cNvPr id="18" name="TextBox 18"/>
            <p:cNvSpPr txBox="1"/>
            <p:nvPr/>
          </p:nvSpPr>
          <p:spPr>
            <a:xfrm>
              <a:off x="0" y="38100"/>
              <a:ext cx="448794" cy="5132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9"/>
                </a:lnSpc>
              </a:pPr>
              <a:r>
                <a:rPr lang="en-US" sz="2759">
                  <a:solidFill>
                    <a:srgbClr val="FFFFFF"/>
                  </a:solidFill>
                  <a:latin typeface="Prompt"/>
                  <a:ea typeface="Prompt"/>
                  <a:cs typeface="Prompt"/>
                  <a:sym typeface="Prompt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794" y="28575"/>
              <a:ext cx="4254994" cy="635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4"/>
                </a:lnSpc>
              </a:pPr>
              <a:r>
                <a:rPr lang="en-US" sz="3282">
                  <a:solidFill>
                    <a:srgbClr val="FFFFFF"/>
                  </a:solidFill>
                  <a:latin typeface="Prompt"/>
                  <a:ea typeface="Prompt"/>
                  <a:cs typeface="Prompt"/>
                  <a:sym typeface="Prompt"/>
                </a:rPr>
                <a:t>Vent Holes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8794" y="877134"/>
              <a:ext cx="5108638" cy="12451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56"/>
                </a:lnSpc>
              </a:pPr>
              <a:r>
                <a:rPr lang="en-US" sz="2455" spc="184">
                  <a:solidFill>
                    <a:srgbClr val="FFFFFF"/>
                  </a:solidFill>
                  <a:latin typeface="Prompt Light"/>
                  <a:ea typeface="Prompt Light"/>
                  <a:cs typeface="Prompt Light"/>
                  <a:sym typeface="Prompt Light"/>
                </a:rPr>
                <a:t>Added vent holes on bottom piece floor.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508917" y="6567093"/>
            <a:ext cx="4909892" cy="2086993"/>
            <a:chOff x="0" y="0"/>
            <a:chExt cx="6546523" cy="2782658"/>
          </a:xfrm>
        </p:grpSpPr>
        <p:sp>
          <p:nvSpPr>
            <p:cNvPr id="22" name="TextBox 22"/>
            <p:cNvSpPr txBox="1"/>
            <p:nvPr/>
          </p:nvSpPr>
          <p:spPr>
            <a:xfrm>
              <a:off x="0" y="38100"/>
              <a:ext cx="448794" cy="5132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9"/>
                </a:lnSpc>
              </a:pPr>
              <a:r>
                <a:rPr lang="en-US" sz="2759">
                  <a:solidFill>
                    <a:srgbClr val="FFFFFF"/>
                  </a:solidFill>
                  <a:latin typeface="Prompt"/>
                  <a:ea typeface="Prompt"/>
                  <a:cs typeface="Prompt"/>
                  <a:sym typeface="Prompt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7573" y="28575"/>
              <a:ext cx="6028951" cy="635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4"/>
                </a:lnSpc>
              </a:pPr>
              <a:r>
                <a:rPr lang="en-US" sz="3282">
                  <a:solidFill>
                    <a:srgbClr val="FFFFFF"/>
                  </a:solidFill>
                  <a:latin typeface="Prompt"/>
                  <a:ea typeface="Prompt"/>
                  <a:cs typeface="Prompt"/>
                  <a:sym typeface="Prompt"/>
                </a:rPr>
                <a:t>Alignment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8794" y="877134"/>
              <a:ext cx="5343323" cy="19055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56"/>
                </a:lnSpc>
              </a:pPr>
              <a:r>
                <a:rPr lang="en-US" sz="2455" spc="184">
                  <a:solidFill>
                    <a:srgbClr val="FFFFFF"/>
                  </a:solidFill>
                  <a:latin typeface="Prompt Light"/>
                  <a:ea typeface="Prompt Light"/>
                  <a:cs typeface="Prompt Light"/>
                  <a:sym typeface="Prompt Light"/>
                </a:rPr>
                <a:t>Added alignment grooves to help with sliding.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620463" y="6567093"/>
            <a:ext cx="3966421" cy="2582293"/>
            <a:chOff x="0" y="0"/>
            <a:chExt cx="5288561" cy="3443058"/>
          </a:xfrm>
        </p:grpSpPr>
        <p:sp>
          <p:nvSpPr>
            <p:cNvPr id="26" name="TextBox 26"/>
            <p:cNvSpPr txBox="1"/>
            <p:nvPr/>
          </p:nvSpPr>
          <p:spPr>
            <a:xfrm>
              <a:off x="0" y="38100"/>
              <a:ext cx="357960" cy="5132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79"/>
                </a:lnSpc>
              </a:pPr>
              <a:r>
                <a:rPr lang="en-US" sz="2759">
                  <a:solidFill>
                    <a:srgbClr val="FFFFFF"/>
                  </a:solidFill>
                  <a:latin typeface="Prompt"/>
                  <a:ea typeface="Prompt"/>
                  <a:cs typeface="Prompt"/>
                  <a:sym typeface="Prompt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9839" y="28575"/>
              <a:ext cx="4808721" cy="6350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44"/>
                </a:lnSpc>
              </a:pPr>
              <a:r>
                <a:rPr lang="en-US" sz="3282">
                  <a:solidFill>
                    <a:srgbClr val="FFFFFF"/>
                  </a:solidFill>
                  <a:latin typeface="Prompt"/>
                  <a:ea typeface="Prompt"/>
                  <a:cs typeface="Prompt"/>
                  <a:sym typeface="Prompt"/>
                </a:rPr>
                <a:t>Thinner Design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9839" y="877134"/>
              <a:ext cx="2703934" cy="25659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56"/>
                </a:lnSpc>
              </a:pPr>
              <a:r>
                <a:rPr lang="en-US" sz="2455" spc="184">
                  <a:solidFill>
                    <a:srgbClr val="FFFFFF"/>
                  </a:solidFill>
                  <a:latin typeface="Prompt Light"/>
                  <a:ea typeface="Prompt Light"/>
                  <a:cs typeface="Prompt Light"/>
                  <a:sym typeface="Prompt Light"/>
                </a:rPr>
                <a:t>Made design thinner &amp; cheaper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93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78008" y="2910757"/>
            <a:ext cx="6219296" cy="7018921"/>
            <a:chOff x="0" y="0"/>
            <a:chExt cx="2157093" cy="24344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57094" cy="2434435"/>
            </a:xfrm>
            <a:custGeom>
              <a:avLst/>
              <a:gdLst/>
              <a:ahLst/>
              <a:cxnLst/>
              <a:rect l="l" t="t" r="r" b="b"/>
              <a:pathLst>
                <a:path w="2157094" h="2434435">
                  <a:moveTo>
                    <a:pt x="0" y="0"/>
                  </a:moveTo>
                  <a:lnTo>
                    <a:pt x="2157094" y="0"/>
                  </a:lnTo>
                  <a:lnTo>
                    <a:pt x="2157094" y="2434435"/>
                  </a:lnTo>
                  <a:lnTo>
                    <a:pt x="0" y="2434435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57093" cy="24915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0"/>
                </a:lnSpc>
              </a:pPr>
              <a:endParaRPr/>
            </a:p>
          </p:txBody>
        </p:sp>
      </p:grp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807244" y="322447"/>
            <a:ext cx="9293668" cy="9642106"/>
            <a:chOff x="0" y="0"/>
            <a:chExt cx="23881080" cy="24776430"/>
          </a:xfrm>
        </p:grpSpPr>
        <p:sp>
          <p:nvSpPr>
            <p:cNvPr id="6" name="Freeform 6"/>
            <p:cNvSpPr/>
            <p:nvPr/>
          </p:nvSpPr>
          <p:spPr>
            <a:xfrm>
              <a:off x="12680950" y="31750"/>
              <a:ext cx="11168380" cy="11517630"/>
            </a:xfrm>
            <a:custGeom>
              <a:avLst/>
              <a:gdLst/>
              <a:ahLst/>
              <a:cxnLst/>
              <a:rect l="l" t="t" r="r" b="b"/>
              <a:pathLst>
                <a:path w="11168380" h="11517630">
                  <a:moveTo>
                    <a:pt x="11163300" y="0"/>
                  </a:moveTo>
                  <a:lnTo>
                    <a:pt x="2161539" y="205740"/>
                  </a:lnTo>
                  <a:lnTo>
                    <a:pt x="1503680" y="220980"/>
                  </a:lnTo>
                  <a:lnTo>
                    <a:pt x="0" y="255270"/>
                  </a:lnTo>
                  <a:lnTo>
                    <a:pt x="0" y="11517630"/>
                  </a:lnTo>
                  <a:lnTo>
                    <a:pt x="1226820" y="11488420"/>
                  </a:lnTo>
                  <a:lnTo>
                    <a:pt x="1824989" y="11475720"/>
                  </a:lnTo>
                  <a:lnTo>
                    <a:pt x="2757170" y="11454130"/>
                  </a:lnTo>
                  <a:lnTo>
                    <a:pt x="3408680" y="11438890"/>
                  </a:lnTo>
                  <a:lnTo>
                    <a:pt x="3623311" y="11433810"/>
                  </a:lnTo>
                  <a:lnTo>
                    <a:pt x="4069080" y="11423650"/>
                  </a:lnTo>
                  <a:lnTo>
                    <a:pt x="11155680" y="11262360"/>
                  </a:lnTo>
                  <a:lnTo>
                    <a:pt x="11168380" y="11262360"/>
                  </a:lnTo>
                  <a:lnTo>
                    <a:pt x="11168380" y="0"/>
                  </a:lnTo>
                  <a:close/>
                </a:path>
              </a:pathLst>
            </a:custGeom>
            <a:blipFill>
              <a:blip r:embed="rId2"/>
              <a:stretch>
                <a:fillRect t="-33424" b="-38879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12711430" y="12158980"/>
              <a:ext cx="11137900" cy="12292330"/>
            </a:xfrm>
            <a:custGeom>
              <a:avLst/>
              <a:gdLst/>
              <a:ahLst/>
              <a:cxnLst/>
              <a:rect l="l" t="t" r="r" b="b"/>
              <a:pathLst>
                <a:path w="11137900" h="12292330">
                  <a:moveTo>
                    <a:pt x="1997709" y="208280"/>
                  </a:moveTo>
                  <a:lnTo>
                    <a:pt x="0" y="254000"/>
                  </a:lnTo>
                  <a:lnTo>
                    <a:pt x="0" y="12292331"/>
                  </a:lnTo>
                  <a:lnTo>
                    <a:pt x="1196340" y="12264390"/>
                  </a:lnTo>
                  <a:lnTo>
                    <a:pt x="1794509" y="12251690"/>
                  </a:lnTo>
                  <a:lnTo>
                    <a:pt x="2726690" y="12230100"/>
                  </a:lnTo>
                  <a:lnTo>
                    <a:pt x="3378200" y="12214859"/>
                  </a:lnTo>
                  <a:lnTo>
                    <a:pt x="3592831" y="12209781"/>
                  </a:lnTo>
                  <a:lnTo>
                    <a:pt x="4038600" y="12199620"/>
                  </a:lnTo>
                  <a:lnTo>
                    <a:pt x="11125200" y="12038331"/>
                  </a:lnTo>
                  <a:lnTo>
                    <a:pt x="11137900" y="12038331"/>
                  </a:lnTo>
                  <a:lnTo>
                    <a:pt x="11137900" y="0"/>
                  </a:lnTo>
                  <a:lnTo>
                    <a:pt x="2654300" y="194310"/>
                  </a:lnTo>
                  <a:close/>
                </a:path>
              </a:pathLst>
            </a:custGeom>
            <a:blipFill>
              <a:blip r:embed="rId3"/>
              <a:stretch>
                <a:fillRect t="-34261" b="-26742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31750" y="307340"/>
              <a:ext cx="11780520" cy="11534140"/>
            </a:xfrm>
            <a:custGeom>
              <a:avLst/>
              <a:gdLst/>
              <a:ahLst/>
              <a:cxnLst/>
              <a:rect l="l" t="t" r="r" b="b"/>
              <a:pathLst>
                <a:path w="11780520" h="11534140">
                  <a:moveTo>
                    <a:pt x="7496810" y="97790"/>
                  </a:moveTo>
                  <a:lnTo>
                    <a:pt x="0" y="269240"/>
                  </a:lnTo>
                  <a:lnTo>
                    <a:pt x="0" y="11534140"/>
                  </a:lnTo>
                  <a:lnTo>
                    <a:pt x="7983220" y="11351260"/>
                  </a:lnTo>
                  <a:lnTo>
                    <a:pt x="8608060" y="11337290"/>
                  </a:lnTo>
                  <a:lnTo>
                    <a:pt x="11780520" y="11264900"/>
                  </a:lnTo>
                  <a:lnTo>
                    <a:pt x="11780520" y="0"/>
                  </a:lnTo>
                  <a:lnTo>
                    <a:pt x="8121650" y="82550"/>
                  </a:lnTo>
                  <a:close/>
                </a:path>
              </a:pathLst>
            </a:custGeom>
            <a:blipFill>
              <a:blip r:embed="rId4"/>
              <a:stretch>
                <a:fillRect t="-6191" b="-75296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31750" y="12433300"/>
              <a:ext cx="11780520" cy="12311380"/>
            </a:xfrm>
            <a:custGeom>
              <a:avLst/>
              <a:gdLst/>
              <a:ahLst/>
              <a:cxnLst/>
              <a:rect l="l" t="t" r="r" b="b"/>
              <a:pathLst>
                <a:path w="11780520" h="12311380">
                  <a:moveTo>
                    <a:pt x="7983220" y="87630"/>
                  </a:moveTo>
                  <a:lnTo>
                    <a:pt x="0" y="269240"/>
                  </a:lnTo>
                  <a:lnTo>
                    <a:pt x="0" y="12311380"/>
                  </a:lnTo>
                  <a:lnTo>
                    <a:pt x="7151370" y="12147550"/>
                  </a:lnTo>
                  <a:lnTo>
                    <a:pt x="7776210" y="12133580"/>
                  </a:lnTo>
                  <a:lnTo>
                    <a:pt x="11780520" y="12042139"/>
                  </a:lnTo>
                  <a:lnTo>
                    <a:pt x="11780520" y="0"/>
                  </a:lnTo>
                  <a:lnTo>
                    <a:pt x="8608060" y="73660"/>
                  </a:lnTo>
                  <a:close/>
                </a:path>
              </a:pathLst>
            </a:custGeom>
            <a:blipFill>
              <a:blip r:embed="rId5"/>
              <a:stretch>
                <a:fillRect t="-32266" b="-37763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12650469" y="0"/>
              <a:ext cx="11233149" cy="11581130"/>
            </a:xfrm>
            <a:custGeom>
              <a:avLst/>
              <a:gdLst/>
              <a:ahLst/>
              <a:cxnLst/>
              <a:rect l="l" t="t" r="r" b="b"/>
              <a:pathLst>
                <a:path w="11233149" h="11581130">
                  <a:moveTo>
                    <a:pt x="11220451" y="8890"/>
                  </a:moveTo>
                  <a:cubicBezTo>
                    <a:pt x="11214101" y="2540"/>
                    <a:pt x="11206481" y="0"/>
                    <a:pt x="11197590" y="0"/>
                  </a:cubicBezTo>
                  <a:lnTo>
                    <a:pt x="11193779" y="0"/>
                  </a:lnTo>
                  <a:lnTo>
                    <a:pt x="2192020" y="205740"/>
                  </a:lnTo>
                  <a:lnTo>
                    <a:pt x="30480" y="255270"/>
                  </a:lnTo>
                  <a:cubicBezTo>
                    <a:pt x="12700" y="255270"/>
                    <a:pt x="0" y="269240"/>
                    <a:pt x="0" y="287020"/>
                  </a:cubicBezTo>
                  <a:lnTo>
                    <a:pt x="0" y="11549380"/>
                  </a:lnTo>
                  <a:cubicBezTo>
                    <a:pt x="0" y="11558270"/>
                    <a:pt x="3810" y="11565889"/>
                    <a:pt x="10160" y="11572239"/>
                  </a:cubicBezTo>
                  <a:cubicBezTo>
                    <a:pt x="16510" y="11578589"/>
                    <a:pt x="24129" y="11581130"/>
                    <a:pt x="31750" y="11581130"/>
                  </a:cubicBezTo>
                  <a:cubicBezTo>
                    <a:pt x="31750" y="11581130"/>
                    <a:pt x="31750" y="11581130"/>
                    <a:pt x="33020" y="11581130"/>
                  </a:cubicBezTo>
                  <a:lnTo>
                    <a:pt x="3656329" y="11498580"/>
                  </a:lnTo>
                  <a:lnTo>
                    <a:pt x="11188699" y="11327130"/>
                  </a:lnTo>
                  <a:lnTo>
                    <a:pt x="11201399" y="11327130"/>
                  </a:lnTo>
                  <a:cubicBezTo>
                    <a:pt x="11219179" y="11327130"/>
                    <a:pt x="11233149" y="11313160"/>
                    <a:pt x="11233149" y="11295380"/>
                  </a:cubicBezTo>
                  <a:lnTo>
                    <a:pt x="11233149" y="31750"/>
                  </a:lnTo>
                  <a:cubicBezTo>
                    <a:pt x="11230611" y="22860"/>
                    <a:pt x="11226801" y="15240"/>
                    <a:pt x="11220451" y="8890"/>
                  </a:cubicBezTo>
                  <a:close/>
                  <a:moveTo>
                    <a:pt x="11167111" y="11262360"/>
                  </a:moveTo>
                  <a:lnTo>
                    <a:pt x="4098292" y="11423650"/>
                  </a:lnTo>
                  <a:lnTo>
                    <a:pt x="62232" y="11516360"/>
                  </a:lnTo>
                  <a:lnTo>
                    <a:pt x="62232" y="317500"/>
                  </a:lnTo>
                  <a:lnTo>
                    <a:pt x="2193292" y="269240"/>
                  </a:lnTo>
                  <a:lnTo>
                    <a:pt x="11167111" y="63500"/>
                  </a:lnTo>
                  <a:lnTo>
                    <a:pt x="11167111" y="11262360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2679680" y="12127230"/>
              <a:ext cx="11202670" cy="12357100"/>
            </a:xfrm>
            <a:custGeom>
              <a:avLst/>
              <a:gdLst/>
              <a:ahLst/>
              <a:cxnLst/>
              <a:rect l="l" t="t" r="r" b="b"/>
              <a:pathLst>
                <a:path w="11202670" h="12357100">
                  <a:moveTo>
                    <a:pt x="11168381" y="0"/>
                  </a:moveTo>
                  <a:lnTo>
                    <a:pt x="2684781" y="194310"/>
                  </a:lnTo>
                  <a:lnTo>
                    <a:pt x="30481" y="255270"/>
                  </a:lnTo>
                  <a:cubicBezTo>
                    <a:pt x="12700" y="255270"/>
                    <a:pt x="0" y="269240"/>
                    <a:pt x="0" y="287020"/>
                  </a:cubicBezTo>
                  <a:lnTo>
                    <a:pt x="0" y="12325350"/>
                  </a:lnTo>
                  <a:cubicBezTo>
                    <a:pt x="0" y="12334240"/>
                    <a:pt x="3810" y="12341861"/>
                    <a:pt x="10160" y="12348211"/>
                  </a:cubicBezTo>
                  <a:cubicBezTo>
                    <a:pt x="16510" y="12354561"/>
                    <a:pt x="24130" y="12357100"/>
                    <a:pt x="31750" y="12357100"/>
                  </a:cubicBezTo>
                  <a:cubicBezTo>
                    <a:pt x="31750" y="12357100"/>
                    <a:pt x="31750" y="12357100"/>
                    <a:pt x="33020" y="12357100"/>
                  </a:cubicBezTo>
                  <a:lnTo>
                    <a:pt x="3625850" y="12274550"/>
                  </a:lnTo>
                  <a:lnTo>
                    <a:pt x="11158220" y="12103100"/>
                  </a:lnTo>
                  <a:lnTo>
                    <a:pt x="11170920" y="12103100"/>
                  </a:lnTo>
                  <a:cubicBezTo>
                    <a:pt x="11188700" y="12103100"/>
                    <a:pt x="11202670" y="12089131"/>
                    <a:pt x="11202670" y="12071350"/>
                  </a:cubicBezTo>
                  <a:lnTo>
                    <a:pt x="11202670" y="31750"/>
                  </a:lnTo>
                  <a:cubicBezTo>
                    <a:pt x="11202670" y="22860"/>
                    <a:pt x="11198859" y="15240"/>
                    <a:pt x="11192509" y="8890"/>
                  </a:cubicBezTo>
                  <a:cubicBezTo>
                    <a:pt x="11184890" y="2540"/>
                    <a:pt x="11177270" y="0"/>
                    <a:pt x="11168381" y="0"/>
                  </a:cubicBezTo>
                  <a:close/>
                  <a:moveTo>
                    <a:pt x="11137900" y="12038331"/>
                  </a:moveTo>
                  <a:lnTo>
                    <a:pt x="4069081" y="12199620"/>
                  </a:lnTo>
                  <a:lnTo>
                    <a:pt x="63500" y="12291059"/>
                  </a:lnTo>
                  <a:lnTo>
                    <a:pt x="63500" y="317500"/>
                  </a:lnTo>
                  <a:lnTo>
                    <a:pt x="2030731" y="273050"/>
                  </a:lnTo>
                  <a:lnTo>
                    <a:pt x="11137900" y="64770"/>
                  </a:lnTo>
                  <a:lnTo>
                    <a:pt x="11137900" y="12038331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275347"/>
              <a:ext cx="11844020" cy="11597884"/>
            </a:xfrm>
            <a:custGeom>
              <a:avLst/>
              <a:gdLst/>
              <a:ahLst/>
              <a:cxnLst/>
              <a:rect l="l" t="t" r="r" b="b"/>
              <a:pathLst>
                <a:path w="11844020" h="11597884">
                  <a:moveTo>
                    <a:pt x="11811000" y="243"/>
                  </a:moveTo>
                  <a:lnTo>
                    <a:pt x="8152130" y="84063"/>
                  </a:lnTo>
                  <a:lnTo>
                    <a:pt x="7527290" y="98033"/>
                  </a:lnTo>
                  <a:lnTo>
                    <a:pt x="30480" y="269483"/>
                  </a:lnTo>
                  <a:cubicBezTo>
                    <a:pt x="13970" y="269483"/>
                    <a:pt x="0" y="283453"/>
                    <a:pt x="0" y="301233"/>
                  </a:cubicBezTo>
                  <a:lnTo>
                    <a:pt x="0" y="11566133"/>
                  </a:lnTo>
                  <a:cubicBezTo>
                    <a:pt x="0" y="11575023"/>
                    <a:pt x="3810" y="11582643"/>
                    <a:pt x="10160" y="11588993"/>
                  </a:cubicBezTo>
                  <a:cubicBezTo>
                    <a:pt x="16510" y="11595343"/>
                    <a:pt x="24130" y="11597883"/>
                    <a:pt x="31750" y="11597883"/>
                  </a:cubicBezTo>
                  <a:cubicBezTo>
                    <a:pt x="31750" y="11597883"/>
                    <a:pt x="31750" y="11597883"/>
                    <a:pt x="33020" y="11597883"/>
                  </a:cubicBezTo>
                  <a:lnTo>
                    <a:pt x="8016239" y="11415003"/>
                  </a:lnTo>
                  <a:lnTo>
                    <a:pt x="8641080" y="11401033"/>
                  </a:lnTo>
                  <a:lnTo>
                    <a:pt x="11813539" y="11328643"/>
                  </a:lnTo>
                  <a:cubicBezTo>
                    <a:pt x="11831320" y="11328643"/>
                    <a:pt x="11844020" y="11314673"/>
                    <a:pt x="11844020" y="11296893"/>
                  </a:cubicBezTo>
                  <a:lnTo>
                    <a:pt x="11844020" y="31993"/>
                  </a:lnTo>
                  <a:cubicBezTo>
                    <a:pt x="11844020" y="23103"/>
                    <a:pt x="11840210" y="15483"/>
                    <a:pt x="11833860" y="9133"/>
                  </a:cubicBezTo>
                  <a:cubicBezTo>
                    <a:pt x="11827510" y="2783"/>
                    <a:pt x="11819890" y="-1027"/>
                    <a:pt x="11811000" y="243"/>
                  </a:cubicBezTo>
                  <a:close/>
                  <a:moveTo>
                    <a:pt x="11780520" y="11265143"/>
                  </a:moveTo>
                  <a:lnTo>
                    <a:pt x="8639810" y="11337533"/>
                  </a:lnTo>
                  <a:lnTo>
                    <a:pt x="8014970" y="11351503"/>
                  </a:lnTo>
                  <a:lnTo>
                    <a:pt x="63500" y="11533113"/>
                  </a:lnTo>
                  <a:lnTo>
                    <a:pt x="63500" y="331713"/>
                  </a:lnTo>
                  <a:lnTo>
                    <a:pt x="7528560" y="161533"/>
                  </a:lnTo>
                  <a:lnTo>
                    <a:pt x="8153400" y="147563"/>
                  </a:lnTo>
                  <a:lnTo>
                    <a:pt x="11779250" y="65013"/>
                  </a:lnTo>
                  <a:lnTo>
                    <a:pt x="11779250" y="11265143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12401550"/>
              <a:ext cx="11844020" cy="12374879"/>
            </a:xfrm>
            <a:custGeom>
              <a:avLst/>
              <a:gdLst/>
              <a:ahLst/>
              <a:cxnLst/>
              <a:rect l="l" t="t" r="r" b="b"/>
              <a:pathLst>
                <a:path w="11844020" h="12374879">
                  <a:moveTo>
                    <a:pt x="11811000" y="0"/>
                  </a:moveTo>
                  <a:lnTo>
                    <a:pt x="8638540" y="72390"/>
                  </a:lnTo>
                  <a:lnTo>
                    <a:pt x="8013700" y="86360"/>
                  </a:lnTo>
                  <a:lnTo>
                    <a:pt x="30480" y="270510"/>
                  </a:lnTo>
                  <a:cubicBezTo>
                    <a:pt x="12700" y="270510"/>
                    <a:pt x="0" y="284480"/>
                    <a:pt x="0" y="302260"/>
                  </a:cubicBezTo>
                  <a:lnTo>
                    <a:pt x="0" y="12343129"/>
                  </a:lnTo>
                  <a:cubicBezTo>
                    <a:pt x="0" y="12352018"/>
                    <a:pt x="3810" y="12359639"/>
                    <a:pt x="10160" y="12365989"/>
                  </a:cubicBezTo>
                  <a:cubicBezTo>
                    <a:pt x="16510" y="12372339"/>
                    <a:pt x="24130" y="12374879"/>
                    <a:pt x="31750" y="12374879"/>
                  </a:cubicBezTo>
                  <a:cubicBezTo>
                    <a:pt x="31750" y="12374879"/>
                    <a:pt x="31750" y="12374879"/>
                    <a:pt x="33020" y="12374879"/>
                  </a:cubicBezTo>
                  <a:lnTo>
                    <a:pt x="7184389" y="12211048"/>
                  </a:lnTo>
                  <a:lnTo>
                    <a:pt x="7809230" y="12197079"/>
                  </a:lnTo>
                  <a:lnTo>
                    <a:pt x="11813539" y="12105639"/>
                  </a:lnTo>
                  <a:cubicBezTo>
                    <a:pt x="11831320" y="12105639"/>
                    <a:pt x="11844020" y="12091670"/>
                    <a:pt x="11844020" y="12073889"/>
                  </a:cubicBezTo>
                  <a:lnTo>
                    <a:pt x="11844020" y="31750"/>
                  </a:lnTo>
                  <a:cubicBezTo>
                    <a:pt x="11844020" y="22860"/>
                    <a:pt x="11840210" y="15240"/>
                    <a:pt x="11833860" y="8890"/>
                  </a:cubicBezTo>
                  <a:cubicBezTo>
                    <a:pt x="11827510" y="3810"/>
                    <a:pt x="11819890" y="0"/>
                    <a:pt x="11811000" y="0"/>
                  </a:cubicBezTo>
                  <a:close/>
                  <a:moveTo>
                    <a:pt x="11780520" y="12043411"/>
                  </a:moveTo>
                  <a:lnTo>
                    <a:pt x="7806689" y="12134850"/>
                  </a:lnTo>
                  <a:lnTo>
                    <a:pt x="7181849" y="12148820"/>
                  </a:lnTo>
                  <a:lnTo>
                    <a:pt x="63500" y="12310111"/>
                  </a:lnTo>
                  <a:lnTo>
                    <a:pt x="63500" y="332741"/>
                  </a:lnTo>
                  <a:lnTo>
                    <a:pt x="8016240" y="151131"/>
                  </a:lnTo>
                  <a:lnTo>
                    <a:pt x="11780520" y="64771"/>
                  </a:lnTo>
                  <a:lnTo>
                    <a:pt x="11780520" y="12043411"/>
                  </a:lnTo>
                  <a:close/>
                </a:path>
              </a:pathLst>
            </a:custGeom>
            <a:solidFill>
              <a:srgbClr val="00BF63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7717030" y="1038225"/>
            <a:ext cx="9780274" cy="120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520"/>
              </a:lnSpc>
            </a:pPr>
            <a:r>
              <a:rPr lang="en-US" sz="8000" b="1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FINAL DESIGN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46087" y="3401244"/>
            <a:ext cx="5083138" cy="6649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5315" lvl="1" indent="-307340" algn="l">
              <a:lnSpc>
                <a:spcPts val="3990"/>
              </a:lnSpc>
              <a:buFont typeface="Arial"/>
              <a:buChar char="•"/>
            </a:pPr>
            <a:r>
              <a:rPr lang="en-US" sz="2850" spc="5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3D printed — Brown PLA​</a:t>
            </a:r>
            <a:endParaRPr lang="en-US">
              <a:ea typeface="Calibri"/>
              <a:cs typeface="Calibri"/>
            </a:endParaRPr>
          </a:p>
          <a:p>
            <a:pPr marL="615315" lvl="1" indent="-307340" algn="l">
              <a:lnSpc>
                <a:spcPts val="3990"/>
              </a:lnSpc>
              <a:buFont typeface="Arial"/>
              <a:buChar char="•"/>
            </a:pPr>
            <a:r>
              <a:rPr lang="en-US" sz="2850" spc="5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Fuzzy skin texture​</a:t>
            </a:r>
            <a:endParaRPr lang="en-US" sz="2850" spc="5">
              <a:solidFill>
                <a:srgbClr val="FFFFFF"/>
              </a:solidFill>
              <a:latin typeface="Prompt Bold"/>
              <a:ea typeface="Prompt Bold"/>
              <a:cs typeface="Prompt Bold"/>
            </a:endParaRPr>
          </a:p>
          <a:p>
            <a:pPr marL="615315" lvl="1" indent="-307340" algn="l">
              <a:lnSpc>
                <a:spcPts val="3990"/>
              </a:lnSpc>
              <a:buFont typeface="Arial"/>
              <a:buChar char="•"/>
            </a:pPr>
            <a:r>
              <a:rPr lang="en-US" sz="2850" spc="5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8" long × 4" diameter​</a:t>
            </a:r>
            <a:endParaRPr lang="en-US" sz="2850" spc="5">
              <a:solidFill>
                <a:srgbClr val="FFFFFF"/>
              </a:solidFill>
              <a:latin typeface="Prompt Bold"/>
              <a:ea typeface="Prompt Bold"/>
              <a:cs typeface="Prompt Bold"/>
            </a:endParaRPr>
          </a:p>
          <a:p>
            <a:pPr marL="615315" lvl="1" indent="-307340" algn="l">
              <a:lnSpc>
                <a:spcPts val="3990"/>
              </a:lnSpc>
              <a:buFont typeface="Arial"/>
              <a:buChar char="•"/>
            </a:pPr>
            <a:r>
              <a:rPr lang="en-US" sz="2850" spc="5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Two-piece slide connection​</a:t>
            </a:r>
            <a:endParaRPr lang="en-US" sz="2850" spc="5">
              <a:solidFill>
                <a:srgbClr val="FFFFFF"/>
              </a:solidFill>
              <a:latin typeface="Prompt Bold"/>
              <a:ea typeface="Prompt Bold"/>
              <a:cs typeface="Prompt Bold"/>
            </a:endParaRPr>
          </a:p>
          <a:p>
            <a:pPr marL="615315" lvl="1" indent="-307340" algn="l">
              <a:lnSpc>
                <a:spcPts val="3990"/>
              </a:lnSpc>
              <a:buFont typeface="Arial"/>
              <a:buChar char="•"/>
            </a:pPr>
            <a:r>
              <a:rPr lang="en-US" sz="2850" spc="5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Internal dark chambers​</a:t>
            </a:r>
            <a:endParaRPr lang="en-US" sz="2850" spc="5">
              <a:solidFill>
                <a:srgbClr val="FFFFFF"/>
              </a:solidFill>
              <a:latin typeface="Prompt Bold"/>
              <a:ea typeface="Prompt Bold"/>
              <a:cs typeface="Prompt Bold"/>
            </a:endParaRPr>
          </a:p>
          <a:p>
            <a:pPr marL="615315" lvl="1" indent="-307340" algn="l">
              <a:lnSpc>
                <a:spcPts val="3990"/>
              </a:lnSpc>
              <a:buFont typeface="Arial"/>
              <a:buChar char="•"/>
            </a:pPr>
            <a:r>
              <a:rPr lang="en-US" sz="2850" spc="5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Ventilation slits (top)​</a:t>
            </a:r>
            <a:endParaRPr lang="en-US" sz="2850" spc="5">
              <a:solidFill>
                <a:srgbClr val="FFFFFF"/>
              </a:solidFill>
              <a:latin typeface="Prompt Bold"/>
              <a:ea typeface="Prompt Bold"/>
              <a:cs typeface="Prompt Bold"/>
            </a:endParaRPr>
          </a:p>
          <a:p>
            <a:pPr marL="615315" lvl="1" indent="-307340" algn="l">
              <a:lnSpc>
                <a:spcPts val="3990"/>
              </a:lnSpc>
              <a:buFont typeface="Arial"/>
              <a:buChar char="•"/>
            </a:pPr>
            <a:r>
              <a:rPr lang="en-US" sz="2850" spc="5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Multiple entrances/exits​</a:t>
            </a:r>
            <a:endParaRPr lang="en-US" sz="2850" spc="5">
              <a:solidFill>
                <a:srgbClr val="FFFFFF"/>
              </a:solidFill>
              <a:latin typeface="Prompt Bold"/>
              <a:ea typeface="Prompt Bold"/>
              <a:cs typeface="Prompt Bold"/>
            </a:endParaRPr>
          </a:p>
          <a:p>
            <a:pPr marL="615315" lvl="1" indent="-307340" algn="l">
              <a:lnSpc>
                <a:spcPts val="3990"/>
              </a:lnSpc>
              <a:buFont typeface="Arial"/>
              <a:buChar char="•"/>
            </a:pPr>
            <a:r>
              <a:rPr lang="en-US" sz="2850" spc="5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1.5" buried in substrate​</a:t>
            </a:r>
            <a:endParaRPr lang="en-US" sz="2850" spc="5">
              <a:solidFill>
                <a:srgbClr val="FFFFFF"/>
              </a:solidFill>
              <a:latin typeface="Prompt Bold"/>
              <a:ea typeface="Prompt Bold"/>
              <a:cs typeface="Prompt Bold"/>
            </a:endParaRPr>
          </a:p>
          <a:p>
            <a:pPr marL="615315" lvl="1" indent="-307340" algn="l">
              <a:lnSpc>
                <a:spcPts val="3990"/>
              </a:lnSpc>
              <a:buFont typeface="Arial"/>
              <a:buChar char="•"/>
            </a:pPr>
            <a:r>
              <a:rPr lang="en-US" sz="2850" spc="5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Fits small &amp; large bins​</a:t>
            </a:r>
            <a:endParaRPr lang="en-US" sz="2850" spc="5">
              <a:solidFill>
                <a:srgbClr val="FFFFFF"/>
              </a:solidFill>
              <a:latin typeface="Prompt Bold"/>
              <a:ea typeface="Prompt Bold"/>
              <a:cs typeface="Prompt Bold"/>
            </a:endParaRPr>
          </a:p>
          <a:p>
            <a:pPr marL="615315" lvl="1" indent="-307340" algn="l">
              <a:lnSpc>
                <a:spcPts val="3990"/>
              </a:lnSpc>
              <a:buFont typeface="Arial"/>
              <a:buChar char="•"/>
            </a:pPr>
            <a:r>
              <a:rPr lang="en-US" sz="2850" spc="5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Washable — no hardware​</a:t>
            </a:r>
            <a:endParaRPr lang="en-US" sz="2850" spc="5">
              <a:solidFill>
                <a:srgbClr val="FFFFFF"/>
              </a:solidFill>
              <a:latin typeface="Prompt Bold"/>
              <a:ea typeface="Prompt Bold"/>
              <a:cs typeface="Prompt Bold"/>
            </a:endParaRPr>
          </a:p>
          <a:p>
            <a:pPr algn="l">
              <a:lnSpc>
                <a:spcPts val="3990"/>
              </a:lnSpc>
              <a:spcBef>
                <a:spcPct val="0"/>
              </a:spcBef>
            </a:pPr>
            <a:endParaRPr lang="en-US" sz="2850" spc="5">
              <a:solidFill>
                <a:srgbClr val="FFFFFF"/>
              </a:solidFill>
              <a:latin typeface="Prompt Bold"/>
              <a:ea typeface="Prompt Bold"/>
              <a:cs typeface="Prompt Bold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93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540386" y="1635188"/>
          <a:ext cx="17287085" cy="8188019"/>
        </p:xfrm>
        <a:graphic>
          <a:graphicData uri="http://schemas.openxmlformats.org/drawingml/2006/table">
            <a:tbl>
              <a:tblPr/>
              <a:tblGrid>
                <a:gridCol w="3457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7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7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57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574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69717"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9717"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9717"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9717"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9717"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69717"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69717"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38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3" name="Group 3"/>
          <p:cNvGrpSpPr/>
          <p:nvPr/>
        </p:nvGrpSpPr>
        <p:grpSpPr>
          <a:xfrm>
            <a:off x="540386" y="1635188"/>
            <a:ext cx="17287085" cy="1253061"/>
            <a:chOff x="0" y="0"/>
            <a:chExt cx="4552977" cy="33002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552977" cy="330024"/>
            </a:xfrm>
            <a:custGeom>
              <a:avLst/>
              <a:gdLst/>
              <a:ahLst/>
              <a:cxnLst/>
              <a:rect l="l" t="t" r="r" b="b"/>
              <a:pathLst>
                <a:path w="4552977" h="330024">
                  <a:moveTo>
                    <a:pt x="0" y="0"/>
                  </a:moveTo>
                  <a:lnTo>
                    <a:pt x="4552977" y="0"/>
                  </a:lnTo>
                  <a:lnTo>
                    <a:pt x="4552977" y="330024"/>
                  </a:lnTo>
                  <a:lnTo>
                    <a:pt x="0" y="330024"/>
                  </a:lnTo>
                  <a:close/>
                </a:path>
              </a:pathLst>
            </a:custGeom>
            <a:solidFill>
              <a:srgbClr val="00BF6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552977" cy="3681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88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994899" y="2954938"/>
            <a:ext cx="968147" cy="968147"/>
          </a:xfrm>
          <a:custGeom>
            <a:avLst/>
            <a:gdLst/>
            <a:ahLst/>
            <a:cxnLst/>
            <a:rect l="l" t="t" r="r" b="b"/>
            <a:pathLst>
              <a:path w="968147" h="968147">
                <a:moveTo>
                  <a:pt x="0" y="0"/>
                </a:moveTo>
                <a:lnTo>
                  <a:pt x="968147" y="0"/>
                </a:lnTo>
                <a:lnTo>
                  <a:pt x="968147" y="968147"/>
                </a:lnTo>
                <a:lnTo>
                  <a:pt x="0" y="9681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396659" y="3102562"/>
            <a:ext cx="3374292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PASS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396659" y="4302297"/>
            <a:ext cx="3374292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PASS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396659" y="5439955"/>
            <a:ext cx="3374292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PASS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396659" y="6542315"/>
            <a:ext cx="3374292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96659" y="7798980"/>
            <a:ext cx="3374292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396659" y="8931820"/>
            <a:ext cx="3374292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32987" y="4302297"/>
            <a:ext cx="3374292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PASS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32987" y="7798980"/>
            <a:ext cx="3374292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PASS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932987" y="8931820"/>
            <a:ext cx="3374292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PASS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994899" y="4107466"/>
            <a:ext cx="968147" cy="968147"/>
          </a:xfrm>
          <a:custGeom>
            <a:avLst/>
            <a:gdLst/>
            <a:ahLst/>
            <a:cxnLst/>
            <a:rect l="l" t="t" r="r" b="b"/>
            <a:pathLst>
              <a:path w="968147" h="968147">
                <a:moveTo>
                  <a:pt x="0" y="0"/>
                </a:moveTo>
                <a:lnTo>
                  <a:pt x="968147" y="0"/>
                </a:lnTo>
                <a:lnTo>
                  <a:pt x="968147" y="968147"/>
                </a:lnTo>
                <a:lnTo>
                  <a:pt x="0" y="9681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994899" y="7584668"/>
            <a:ext cx="968147" cy="968147"/>
          </a:xfrm>
          <a:custGeom>
            <a:avLst/>
            <a:gdLst/>
            <a:ahLst/>
            <a:cxnLst/>
            <a:rect l="l" t="t" r="r" b="b"/>
            <a:pathLst>
              <a:path w="968147" h="968147">
                <a:moveTo>
                  <a:pt x="0" y="0"/>
                </a:moveTo>
                <a:lnTo>
                  <a:pt x="968147" y="0"/>
                </a:lnTo>
                <a:lnTo>
                  <a:pt x="968147" y="968147"/>
                </a:lnTo>
                <a:lnTo>
                  <a:pt x="0" y="9681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0994899" y="8717508"/>
            <a:ext cx="968147" cy="968147"/>
          </a:xfrm>
          <a:custGeom>
            <a:avLst/>
            <a:gdLst/>
            <a:ahLst/>
            <a:cxnLst/>
            <a:rect l="l" t="t" r="r" b="b"/>
            <a:pathLst>
              <a:path w="968147" h="968147">
                <a:moveTo>
                  <a:pt x="0" y="0"/>
                </a:moveTo>
                <a:lnTo>
                  <a:pt x="968147" y="0"/>
                </a:lnTo>
                <a:lnTo>
                  <a:pt x="968147" y="968147"/>
                </a:lnTo>
                <a:lnTo>
                  <a:pt x="0" y="9681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412053" y="8717508"/>
            <a:ext cx="968147" cy="968147"/>
          </a:xfrm>
          <a:custGeom>
            <a:avLst/>
            <a:gdLst/>
            <a:ahLst/>
            <a:cxnLst/>
            <a:rect l="l" t="t" r="r" b="b"/>
            <a:pathLst>
              <a:path w="968147" h="968147">
                <a:moveTo>
                  <a:pt x="0" y="0"/>
                </a:moveTo>
                <a:lnTo>
                  <a:pt x="968147" y="0"/>
                </a:lnTo>
                <a:lnTo>
                  <a:pt x="968147" y="968147"/>
                </a:lnTo>
                <a:lnTo>
                  <a:pt x="0" y="9681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4412053" y="7584668"/>
            <a:ext cx="968147" cy="968147"/>
          </a:xfrm>
          <a:custGeom>
            <a:avLst/>
            <a:gdLst/>
            <a:ahLst/>
            <a:cxnLst/>
            <a:rect l="l" t="t" r="r" b="b"/>
            <a:pathLst>
              <a:path w="968147" h="968147">
                <a:moveTo>
                  <a:pt x="0" y="0"/>
                </a:moveTo>
                <a:lnTo>
                  <a:pt x="968147" y="0"/>
                </a:lnTo>
                <a:lnTo>
                  <a:pt x="968147" y="968147"/>
                </a:lnTo>
                <a:lnTo>
                  <a:pt x="0" y="9681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373953" y="6366966"/>
            <a:ext cx="968147" cy="968147"/>
          </a:xfrm>
          <a:custGeom>
            <a:avLst/>
            <a:gdLst/>
            <a:ahLst/>
            <a:cxnLst/>
            <a:rect l="l" t="t" r="r" b="b"/>
            <a:pathLst>
              <a:path w="968147" h="968147">
                <a:moveTo>
                  <a:pt x="0" y="0"/>
                </a:moveTo>
                <a:lnTo>
                  <a:pt x="968147" y="0"/>
                </a:lnTo>
                <a:lnTo>
                  <a:pt x="968147" y="968147"/>
                </a:lnTo>
                <a:lnTo>
                  <a:pt x="0" y="9681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4373953" y="5225643"/>
            <a:ext cx="968147" cy="968147"/>
          </a:xfrm>
          <a:custGeom>
            <a:avLst/>
            <a:gdLst/>
            <a:ahLst/>
            <a:cxnLst/>
            <a:rect l="l" t="t" r="r" b="b"/>
            <a:pathLst>
              <a:path w="968147" h="968147">
                <a:moveTo>
                  <a:pt x="0" y="0"/>
                </a:moveTo>
                <a:lnTo>
                  <a:pt x="968147" y="0"/>
                </a:lnTo>
                <a:lnTo>
                  <a:pt x="968147" y="968147"/>
                </a:lnTo>
                <a:lnTo>
                  <a:pt x="0" y="9681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4373953" y="4086046"/>
            <a:ext cx="968147" cy="968147"/>
          </a:xfrm>
          <a:custGeom>
            <a:avLst/>
            <a:gdLst/>
            <a:ahLst/>
            <a:cxnLst/>
            <a:rect l="l" t="t" r="r" b="b"/>
            <a:pathLst>
              <a:path w="968147" h="968147">
                <a:moveTo>
                  <a:pt x="0" y="0"/>
                </a:moveTo>
                <a:lnTo>
                  <a:pt x="968147" y="0"/>
                </a:lnTo>
                <a:lnTo>
                  <a:pt x="968147" y="968147"/>
                </a:lnTo>
                <a:lnTo>
                  <a:pt x="0" y="9681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4396659" y="2954938"/>
            <a:ext cx="968147" cy="968147"/>
          </a:xfrm>
          <a:custGeom>
            <a:avLst/>
            <a:gdLst/>
            <a:ahLst/>
            <a:cxnLst/>
            <a:rect l="l" t="t" r="r" b="b"/>
            <a:pathLst>
              <a:path w="968147" h="968147">
                <a:moveTo>
                  <a:pt x="0" y="0"/>
                </a:moveTo>
                <a:lnTo>
                  <a:pt x="968147" y="0"/>
                </a:lnTo>
                <a:lnTo>
                  <a:pt x="968147" y="968147"/>
                </a:lnTo>
                <a:lnTo>
                  <a:pt x="0" y="96814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932987" y="6415633"/>
            <a:ext cx="1166127" cy="1007110"/>
          </a:xfrm>
          <a:custGeom>
            <a:avLst/>
            <a:gdLst/>
            <a:ahLst/>
            <a:cxnLst/>
            <a:rect l="l" t="t" r="r" b="b"/>
            <a:pathLst>
              <a:path w="1166127" h="1007110">
                <a:moveTo>
                  <a:pt x="0" y="0"/>
                </a:moveTo>
                <a:lnTo>
                  <a:pt x="1166127" y="0"/>
                </a:lnTo>
                <a:lnTo>
                  <a:pt x="1166127" y="1007110"/>
                </a:lnTo>
                <a:lnTo>
                  <a:pt x="0" y="1007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86182" y="384112"/>
            <a:ext cx="17589815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24"/>
              </a:lnSpc>
            </a:pPr>
            <a:r>
              <a:rPr lang="en-US" sz="8000" b="1" spc="-40">
                <a:solidFill>
                  <a:srgbClr val="FFFFFF"/>
                </a:solidFill>
                <a:latin typeface="Prompt Medium"/>
                <a:ea typeface="Prompt Medium"/>
                <a:cs typeface="Prompt Medium"/>
                <a:sym typeface="Prompt Medium"/>
              </a:rPr>
              <a:t>TESTING &amp; RESULTS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03697" y="1938186"/>
            <a:ext cx="27432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Requirement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374973" y="1938186"/>
            <a:ext cx="262782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Test Method</a:t>
            </a:r>
            <a:endParaRPr lang="en-US" sz="3000" b="1">
              <a:solidFill>
                <a:srgbClr val="FFFFFF"/>
              </a:solidFill>
              <a:latin typeface="Canva Sans Bold"/>
              <a:ea typeface="Canva Sans Bold"/>
              <a:cs typeface="Canva Sans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864180" y="1938186"/>
            <a:ext cx="263949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Pass Criteria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666620" y="1938186"/>
            <a:ext cx="213181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Prototype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514422" y="1938186"/>
            <a:ext cx="102572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961674" y="3068272"/>
            <a:ext cx="82724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Size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99508" y="4268007"/>
            <a:ext cx="215157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Cleanable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602522" y="5405665"/>
            <a:ext cx="154555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Texture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384518" y="6508025"/>
            <a:ext cx="1981557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Elevation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21343" y="7764690"/>
            <a:ext cx="230790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Ventilation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468576" y="8897530"/>
            <a:ext cx="181344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000" i="1">
                <a:solidFill>
                  <a:srgbClr val="FFFFFF"/>
                </a:solidFill>
                <a:latin typeface="Canva Sans Italics"/>
                <a:ea typeface="Canva Sans Italics"/>
                <a:cs typeface="Canva Sans Italics"/>
                <a:sym typeface="Canva Sans Italics"/>
              </a:rPr>
              <a:t>Strength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001741" y="2831099"/>
            <a:ext cx="3374292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Measure/check LWH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001741" y="4030834"/>
            <a:ext cx="3374292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Get dirty and attempt to wash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001741" y="5168493"/>
            <a:ext cx="3374292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Place bugs; observe climbing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001741" y="6270853"/>
            <a:ext cx="3374292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Place bugs; observe climbing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001741" y="7798980"/>
            <a:ext cx="3374292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Dry ice fog test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044463" y="8931820"/>
            <a:ext cx="3374292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Drop test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496783" y="2831099"/>
            <a:ext cx="3374292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Length &lt; 11"</a:t>
            </a:r>
          </a:p>
          <a:p>
            <a:pPr algn="ctr">
              <a:lnSpc>
                <a:spcPts val="434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Dia. &lt; 5"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932987" y="3102562"/>
            <a:ext cx="3374292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PASS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932987" y="5439955"/>
            <a:ext cx="3374292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FAIL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932987" y="6542315"/>
            <a:ext cx="3374292" cy="52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FAIL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456854" y="8660358"/>
            <a:ext cx="3374292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Does not break when dropped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436408" y="7527518"/>
            <a:ext cx="3374292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Smoke exits vent holes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496783" y="6270853"/>
            <a:ext cx="3374292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Bugs climb to different heights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477255" y="5168493"/>
            <a:ext cx="3374292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Bugs grip and climb easy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477255" y="4030834"/>
            <a:ext cx="3374292" cy="1064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0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Pieces slide apart easily</a:t>
            </a:r>
          </a:p>
        </p:txBody>
      </p:sp>
      <p:sp>
        <p:nvSpPr>
          <p:cNvPr id="53" name="Freeform 53"/>
          <p:cNvSpPr/>
          <p:nvPr/>
        </p:nvSpPr>
        <p:spPr>
          <a:xfrm>
            <a:off x="10871074" y="5225643"/>
            <a:ext cx="1166127" cy="1007110"/>
          </a:xfrm>
          <a:custGeom>
            <a:avLst/>
            <a:gdLst/>
            <a:ahLst/>
            <a:cxnLst/>
            <a:rect l="l" t="t" r="r" b="b"/>
            <a:pathLst>
              <a:path w="1166127" h="1007110">
                <a:moveTo>
                  <a:pt x="0" y="0"/>
                </a:moveTo>
                <a:lnTo>
                  <a:pt x="1166127" y="0"/>
                </a:lnTo>
                <a:lnTo>
                  <a:pt x="1166127" y="1007110"/>
                </a:lnTo>
                <a:lnTo>
                  <a:pt x="0" y="1007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93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14772"/>
            <a:ext cx="5781327" cy="2453524"/>
            <a:chOff x="0" y="0"/>
            <a:chExt cx="7708437" cy="3271365"/>
          </a:xfrm>
        </p:grpSpPr>
        <p:sp>
          <p:nvSpPr>
            <p:cNvPr id="3" name="Freeform 3"/>
            <p:cNvSpPr/>
            <p:nvPr/>
          </p:nvSpPr>
          <p:spPr>
            <a:xfrm>
              <a:off x="5236222" y="0"/>
              <a:ext cx="2472215" cy="3271365"/>
            </a:xfrm>
            <a:custGeom>
              <a:avLst/>
              <a:gdLst/>
              <a:ahLst/>
              <a:cxnLst/>
              <a:rect l="l" t="t" r="r" b="b"/>
              <a:pathLst>
                <a:path w="2472215" h="3271365">
                  <a:moveTo>
                    <a:pt x="0" y="0"/>
                  </a:moveTo>
                  <a:lnTo>
                    <a:pt x="2472214" y="0"/>
                  </a:lnTo>
                  <a:lnTo>
                    <a:pt x="2472214" y="3271365"/>
                  </a:lnTo>
                  <a:lnTo>
                    <a:pt x="0" y="3271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47220" t="-26673" r="-34792" b="-141599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2448448" y="153030"/>
              <a:ext cx="2833921" cy="3118335"/>
            </a:xfrm>
            <a:custGeom>
              <a:avLst/>
              <a:gdLst/>
              <a:ahLst/>
              <a:cxnLst/>
              <a:rect l="l" t="t" r="r" b="b"/>
              <a:pathLst>
                <a:path w="2833921" h="3118335">
                  <a:moveTo>
                    <a:pt x="0" y="0"/>
                  </a:moveTo>
                  <a:lnTo>
                    <a:pt x="2833922" y="0"/>
                  </a:lnTo>
                  <a:lnTo>
                    <a:pt x="2833922" y="3118335"/>
                  </a:lnTo>
                  <a:lnTo>
                    <a:pt x="0" y="3118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0241" t="-105572" r="-83979" b="-16610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153030"/>
              <a:ext cx="2804774" cy="3118335"/>
            </a:xfrm>
            <a:custGeom>
              <a:avLst/>
              <a:gdLst/>
              <a:ahLst/>
              <a:cxnLst/>
              <a:rect l="l" t="t" r="r" b="b"/>
              <a:pathLst>
                <a:path w="2804774" h="3118335">
                  <a:moveTo>
                    <a:pt x="0" y="0"/>
                  </a:moveTo>
                  <a:lnTo>
                    <a:pt x="2804774" y="0"/>
                  </a:lnTo>
                  <a:lnTo>
                    <a:pt x="2804774" y="3118335"/>
                  </a:lnTo>
                  <a:lnTo>
                    <a:pt x="0" y="31183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74" t="-17274" r="-121924" b="-145055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0" y="3126910"/>
            <a:ext cx="5781327" cy="1426204"/>
            <a:chOff x="0" y="0"/>
            <a:chExt cx="7708436" cy="19016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26725" cy="1901605"/>
            </a:xfrm>
            <a:custGeom>
              <a:avLst/>
              <a:gdLst/>
              <a:ahLst/>
              <a:cxnLst/>
              <a:rect l="l" t="t" r="r" b="b"/>
              <a:pathLst>
                <a:path w="2226725" h="1901605">
                  <a:moveTo>
                    <a:pt x="0" y="0"/>
                  </a:moveTo>
                  <a:lnTo>
                    <a:pt x="2226725" y="0"/>
                  </a:lnTo>
                  <a:lnTo>
                    <a:pt x="2226725" y="1901605"/>
                  </a:lnTo>
                  <a:lnTo>
                    <a:pt x="0" y="1901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244" t="-230776" r="-272834" b="-31010"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2226725" y="0"/>
              <a:ext cx="2692999" cy="1901605"/>
            </a:xfrm>
            <a:custGeom>
              <a:avLst/>
              <a:gdLst/>
              <a:ahLst/>
              <a:cxnLst/>
              <a:rect l="l" t="t" r="r" b="b"/>
              <a:pathLst>
                <a:path w="2692999" h="1901605">
                  <a:moveTo>
                    <a:pt x="0" y="0"/>
                  </a:moveTo>
                  <a:lnTo>
                    <a:pt x="2692999" y="0"/>
                  </a:lnTo>
                  <a:lnTo>
                    <a:pt x="2692999" y="1901605"/>
                  </a:lnTo>
                  <a:lnTo>
                    <a:pt x="0" y="1901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9302" t="-241594" r="-123237" b="-20192"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4919724" y="0"/>
              <a:ext cx="2788712" cy="1901605"/>
            </a:xfrm>
            <a:custGeom>
              <a:avLst/>
              <a:gdLst/>
              <a:ahLst/>
              <a:cxnLst/>
              <a:rect l="l" t="t" r="r" b="b"/>
              <a:pathLst>
                <a:path w="2788712" h="1901605">
                  <a:moveTo>
                    <a:pt x="0" y="0"/>
                  </a:moveTo>
                  <a:lnTo>
                    <a:pt x="2788712" y="0"/>
                  </a:lnTo>
                  <a:lnTo>
                    <a:pt x="2788712" y="1901605"/>
                  </a:lnTo>
                  <a:lnTo>
                    <a:pt x="0" y="1901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94592" t="-231272" r="-14647" b="-27924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5341273"/>
            <a:ext cx="5781327" cy="1903178"/>
            <a:chOff x="0" y="0"/>
            <a:chExt cx="7708436" cy="253757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819733" cy="2537570"/>
            </a:xfrm>
            <a:custGeom>
              <a:avLst/>
              <a:gdLst/>
              <a:ahLst/>
              <a:cxnLst/>
              <a:rect l="l" t="t" r="r" b="b"/>
              <a:pathLst>
                <a:path w="2819733" h="2537570">
                  <a:moveTo>
                    <a:pt x="0" y="0"/>
                  </a:moveTo>
                  <a:lnTo>
                    <a:pt x="2819733" y="0"/>
                  </a:lnTo>
                  <a:lnTo>
                    <a:pt x="2819733" y="2537570"/>
                  </a:lnTo>
                  <a:lnTo>
                    <a:pt x="0" y="2537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3155" t="-182378" r="-246613" b="-175083"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2819733" y="0"/>
              <a:ext cx="2360232" cy="2537570"/>
            </a:xfrm>
            <a:custGeom>
              <a:avLst/>
              <a:gdLst/>
              <a:ahLst/>
              <a:cxnLst/>
              <a:rect l="l" t="t" r="r" b="b"/>
              <a:pathLst>
                <a:path w="2360232" h="2537570">
                  <a:moveTo>
                    <a:pt x="0" y="0"/>
                  </a:moveTo>
                  <a:lnTo>
                    <a:pt x="2360232" y="0"/>
                  </a:lnTo>
                  <a:lnTo>
                    <a:pt x="2360232" y="2537570"/>
                  </a:lnTo>
                  <a:lnTo>
                    <a:pt x="0" y="2537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8859" t="-165174" r="-405003" b="-157590"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5179965" y="0"/>
              <a:ext cx="2528471" cy="2537570"/>
            </a:xfrm>
            <a:custGeom>
              <a:avLst/>
              <a:gdLst/>
              <a:ahLst/>
              <a:cxnLst/>
              <a:rect l="l" t="t" r="r" b="b"/>
              <a:pathLst>
                <a:path w="2528471" h="2537570">
                  <a:moveTo>
                    <a:pt x="0" y="0"/>
                  </a:moveTo>
                  <a:lnTo>
                    <a:pt x="2528471" y="0"/>
                  </a:lnTo>
                  <a:lnTo>
                    <a:pt x="2528471" y="2537570"/>
                  </a:lnTo>
                  <a:lnTo>
                    <a:pt x="0" y="2537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4944" t="-51297" r="-259100" b="-238609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0" y="8032609"/>
            <a:ext cx="5781327" cy="2270048"/>
            <a:chOff x="0" y="0"/>
            <a:chExt cx="7708436" cy="3026730"/>
          </a:xfrm>
        </p:grpSpPr>
        <p:sp>
          <p:nvSpPr>
            <p:cNvPr id="15" name="Freeform 15"/>
            <p:cNvSpPr/>
            <p:nvPr/>
          </p:nvSpPr>
          <p:spPr>
            <a:xfrm>
              <a:off x="0" y="20876"/>
              <a:ext cx="2650103" cy="3005854"/>
            </a:xfrm>
            <a:custGeom>
              <a:avLst/>
              <a:gdLst/>
              <a:ahLst/>
              <a:cxnLst/>
              <a:rect l="l" t="t" r="r" b="b"/>
              <a:pathLst>
                <a:path w="2650103" h="3005854">
                  <a:moveTo>
                    <a:pt x="0" y="0"/>
                  </a:moveTo>
                  <a:lnTo>
                    <a:pt x="2650103" y="0"/>
                  </a:lnTo>
                  <a:lnTo>
                    <a:pt x="2650103" y="3005854"/>
                  </a:lnTo>
                  <a:lnTo>
                    <a:pt x="0" y="3005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50994" t="-21066" r="-70858" b="-243349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650103" y="21835"/>
              <a:ext cx="2498812" cy="2984019"/>
            </a:xfrm>
            <a:custGeom>
              <a:avLst/>
              <a:gdLst/>
              <a:ahLst/>
              <a:cxnLst/>
              <a:rect l="l" t="t" r="r" b="b"/>
              <a:pathLst>
                <a:path w="2498812" h="2984019">
                  <a:moveTo>
                    <a:pt x="0" y="0"/>
                  </a:moveTo>
                  <a:lnTo>
                    <a:pt x="2498812" y="0"/>
                  </a:lnTo>
                  <a:lnTo>
                    <a:pt x="2498812" y="2984019"/>
                  </a:lnTo>
                  <a:lnTo>
                    <a:pt x="0" y="2984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40402" t="-124394" r="-13045" b="-142687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5148915" y="0"/>
              <a:ext cx="2559521" cy="3005854"/>
            </a:xfrm>
            <a:custGeom>
              <a:avLst/>
              <a:gdLst/>
              <a:ahLst/>
              <a:cxnLst/>
              <a:rect l="l" t="t" r="r" b="b"/>
              <a:pathLst>
                <a:path w="2559521" h="3005854">
                  <a:moveTo>
                    <a:pt x="0" y="0"/>
                  </a:moveTo>
                  <a:lnTo>
                    <a:pt x="2559521" y="0"/>
                  </a:lnTo>
                  <a:lnTo>
                    <a:pt x="2559521" y="3005854"/>
                  </a:lnTo>
                  <a:lnTo>
                    <a:pt x="0" y="30058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1390" t="-124394" r="-122884" b="-142687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5676308" y="2289408"/>
            <a:ext cx="6106054" cy="5708184"/>
            <a:chOff x="0" y="0"/>
            <a:chExt cx="2117817" cy="19798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117817" cy="1979820"/>
            </a:xfrm>
            <a:custGeom>
              <a:avLst/>
              <a:gdLst/>
              <a:ahLst/>
              <a:cxnLst/>
              <a:rect l="l" t="t" r="r" b="b"/>
              <a:pathLst>
                <a:path w="2117817" h="1979820">
                  <a:moveTo>
                    <a:pt x="0" y="0"/>
                  </a:moveTo>
                  <a:lnTo>
                    <a:pt x="2117817" y="0"/>
                  </a:lnTo>
                  <a:lnTo>
                    <a:pt x="2117817" y="1979820"/>
                  </a:lnTo>
                  <a:lnTo>
                    <a:pt x="0" y="1979820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2117817" cy="2036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782362" y="4390359"/>
            <a:ext cx="6106054" cy="5708184"/>
            <a:chOff x="0" y="0"/>
            <a:chExt cx="2117817" cy="19798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117817" cy="1979820"/>
            </a:xfrm>
            <a:custGeom>
              <a:avLst/>
              <a:gdLst/>
              <a:ahLst/>
              <a:cxnLst/>
              <a:rect l="l" t="t" r="r" b="b"/>
              <a:pathLst>
                <a:path w="2117817" h="1979820">
                  <a:moveTo>
                    <a:pt x="0" y="0"/>
                  </a:moveTo>
                  <a:lnTo>
                    <a:pt x="2117817" y="0"/>
                  </a:lnTo>
                  <a:lnTo>
                    <a:pt x="2117817" y="1979820"/>
                  </a:lnTo>
                  <a:lnTo>
                    <a:pt x="0" y="1979820"/>
                  </a:lnTo>
                  <a:close/>
                </a:path>
              </a:pathLst>
            </a:custGeom>
            <a:solidFill>
              <a:srgbClr val="00BF63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2117817" cy="2036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10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479026" y="911156"/>
            <a:ext cx="9780274" cy="1200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520"/>
              </a:lnSpc>
            </a:pPr>
            <a:r>
              <a:rPr lang="en-US" sz="8000" b="1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CONCLUSION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72491" y="2619212"/>
            <a:ext cx="50831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spc="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KEY TAKEAWAYS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278545" y="4720163"/>
            <a:ext cx="50831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spc="6">
                <a:solidFill>
                  <a:srgbClr val="FFFFFF"/>
                </a:solidFill>
                <a:latin typeface="Prompt Bold"/>
                <a:ea typeface="Prompt Bold"/>
                <a:cs typeface="Prompt Bold"/>
                <a:sym typeface="Prompt Bold"/>
              </a:rPr>
              <a:t>IF MORE TIME/BUDGET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868638" y="3203342"/>
            <a:ext cx="4963063" cy="4921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115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All 6 requirements passed (final design)​</a:t>
            </a:r>
            <a:endParaRPr lang="en-US"/>
          </a:p>
          <a:p>
            <a:pPr marL="539115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$5 total cost — 90% under budget​</a:t>
            </a:r>
            <a:endParaRPr lang="en-US" sz="2499">
              <a:solidFill>
                <a:srgbClr val="FFFFFF"/>
              </a:solidFill>
              <a:latin typeface="Prompt Light"/>
              <a:ea typeface="Prompt Light"/>
              <a:cs typeface="Prompt Light"/>
            </a:endParaRPr>
          </a:p>
          <a:p>
            <a:pPr marL="539115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Client approved design at review​</a:t>
            </a:r>
            <a:endParaRPr lang="en-US" sz="2499">
              <a:solidFill>
                <a:srgbClr val="FFFFFF"/>
              </a:solidFill>
              <a:latin typeface="Prompt Light"/>
              <a:ea typeface="Prompt Light"/>
              <a:cs typeface="Prompt Light"/>
            </a:endParaRPr>
          </a:p>
          <a:p>
            <a:pPr marL="539115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5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Fuzzy skin solved texture &amp; elevation failures​</a:t>
            </a:r>
            <a:endParaRPr lang="en-US" sz="2450">
              <a:solidFill>
                <a:srgbClr val="FFFFFF"/>
              </a:solidFill>
              <a:latin typeface="Prompt Light"/>
              <a:ea typeface="Prompt Light"/>
              <a:cs typeface="Prompt Light"/>
            </a:endParaRPr>
          </a:p>
          <a:p>
            <a:pPr marL="539115" lvl="1" indent="-269875" algn="just">
              <a:lnSpc>
                <a:spcPts val="3499"/>
              </a:lnSpc>
              <a:buFont typeface="Arial"/>
              <a:buChar char="•"/>
            </a:pPr>
            <a:r>
              <a:rPr lang="en-US" sz="245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Reusable, washable — replaces cardboard​</a:t>
            </a:r>
            <a:endParaRPr lang="en-US" sz="2450">
              <a:solidFill>
                <a:srgbClr val="FFFFFF"/>
              </a:solidFill>
              <a:latin typeface="Prompt Light"/>
              <a:ea typeface="Prompt Light"/>
              <a:cs typeface="Prompt Light"/>
            </a:endParaRP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2278545" y="5311781"/>
            <a:ext cx="4963063" cy="45339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8655" lvl="1" indent="-334010" algn="just">
              <a:lnSpc>
                <a:spcPts val="5052"/>
              </a:lnSpc>
              <a:buFont typeface="Arial"/>
              <a:buChar char="•"/>
            </a:pPr>
            <a:r>
              <a:rPr lang="en-US" sz="3050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Test additional texture patterns​</a:t>
            </a:r>
            <a:endParaRPr lang="en-US" sz="3050"/>
          </a:p>
          <a:p>
            <a:pPr marL="668655" lvl="1" indent="-334010" algn="just">
              <a:lnSpc>
                <a:spcPts val="5052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Refine internal tunnels for burrowing​</a:t>
            </a:r>
            <a:endParaRPr lang="en-US" sz="3099">
              <a:solidFill>
                <a:srgbClr val="FFFFFF"/>
              </a:solidFill>
              <a:latin typeface="Prompt Light"/>
              <a:ea typeface="Prompt Light"/>
              <a:cs typeface="Prompt Light"/>
            </a:endParaRPr>
          </a:p>
          <a:p>
            <a:pPr marL="668655" lvl="1" indent="-334010" algn="just">
              <a:lnSpc>
                <a:spcPts val="5052"/>
              </a:lnSpc>
              <a:buFont typeface="Arial"/>
              <a:buChar char="•"/>
            </a:pPr>
            <a:r>
              <a:rPr lang="en-US" sz="3099">
                <a:solidFill>
                  <a:srgbClr val="FFFFFF"/>
                </a:solidFill>
                <a:latin typeface="Prompt Light"/>
                <a:ea typeface="Prompt Light"/>
                <a:cs typeface="Prompt Light"/>
                <a:sym typeface="Prompt Light"/>
              </a:rPr>
              <a:t>Produce multiple sizes for all bins​</a:t>
            </a:r>
            <a:endParaRPr lang="en-US" sz="3099">
              <a:solidFill>
                <a:srgbClr val="FFFFFF"/>
              </a:solidFill>
              <a:latin typeface="Prompt Light"/>
              <a:ea typeface="Prompt Light"/>
              <a:cs typeface="Prompt Light"/>
            </a:endParaRPr>
          </a:p>
          <a:p>
            <a:pPr algn="just">
              <a:lnSpc>
                <a:spcPts val="5052"/>
              </a:lnSpc>
            </a:pPr>
            <a:endParaRPr lang="en-US" sz="3099">
              <a:solidFill>
                <a:srgbClr val="FFFFFF"/>
              </a:solidFill>
              <a:latin typeface="Prompt Light"/>
              <a:ea typeface="Prompt Light"/>
              <a:cs typeface="Prompt Light"/>
              <a:sym typeface="Prompt Ligh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Engr Project 2 PPT</dc:title>
  <cp:revision>2</cp:revision>
  <dcterms:created xsi:type="dcterms:W3CDTF">2006-08-16T00:00:00Z</dcterms:created>
  <dcterms:modified xsi:type="dcterms:W3CDTF">2026-04-30T03:48:04Z</dcterms:modified>
  <dc:identifier>DAHIPyRCxT8</dc:identifier>
</cp:coreProperties>
</file>